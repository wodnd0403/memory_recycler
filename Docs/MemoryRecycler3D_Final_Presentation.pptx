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  <p:defaultTextStyle>
    <a:defPPr>
      <a:defRPr lang="ko-KR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num"/>
          <p:cNvSpPr/>
          <p:nvPr/>
        </p:nvSpPr>
        <p:spPr>
          <a:xfrm>
            <a:off x="620000" y="330000"/>
            <a:ext cx="6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300" dirty="0">
                <a:b/>
                <a:solidFill>
                  <a:srgbClr val="BEBEBE"/>
                </a:solidFill>
                <a:latin typeface="Malgun Gothic"/>
                <a:ea typeface="맑은 고딕"/>
              </a:rPr>
              <a:t>01</a:t>
            </a:r>
          </a:p>
        </p:txBody>
      </p:sp>
      <p:sp>
        <p:nvSpPr>
          <p:cNvPr id="4" name="title"/>
          <p:cNvSpPr/>
          <p:nvPr/>
        </p:nvSpPr>
        <p:spPr>
          <a:xfrm>
            <a:off x="620000" y="780000"/>
            <a:ext cx="57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3300" dirty="0">
                <a:b/>
                <a:solidFill>
                  <a:srgbClr val="FFFFFF"/>
                </a:solidFill>
                <a:latin typeface="Malgun Gothic"/>
                <a:ea typeface="맑은 고딕"/>
              </a:rPr>
              <a:t>Memory Recycler 3D</a:t>
            </a:r>
          </a:p>
        </p:txBody>
      </p:sp>
      <p:sp>
        <p:nvSpPr>
          <p:cNvPr id="5" name="message"/>
          <p:cNvSpPr/>
          <p:nvPr/>
        </p:nvSpPr>
        <p:spPr>
          <a:xfrm>
            <a:off x="650000" y="1700000"/>
            <a:ext cx="58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650" dirty="0">
                <a:b/>
                <a:solidFill>
                  <a:srgbClr val="FFFFFF"/>
                </a:solidFill>
                <a:latin typeface="Malgun Gothic"/>
                <a:ea typeface="맑은 고딕"/>
              </a:rPr>
              <a:t>기록창을 렌즈처럼 사용해 흩어진 기억을 복원하는 3D 퍼즐 게임</a:t>
            </a:r>
          </a:p>
        </p:txBody>
      </p:sp>
      <p:sp>
        <p:nvSpPr>
          <p:cNvPr id="6" name="line"/>
          <p:cNvSpPr/>
          <p:nvPr/>
        </p:nvSpPr>
        <p:spPr>
          <a:xfrm>
            <a:off x="650000" y="2670000"/>
            <a:ext cx="1600000" cy="28000"/>
          </a:xfrm>
          <a:prstGeom prst="rect">
            <a:avLst/>
          </a:prstGeom>
          <a:solidFill>
            <a:srgbClr val="00A6B4"/>
          </a:solidFill>
          <a:ln>
            <a:noFill/>
          </a:ln>
        </p:spPr>
      </p:sp>
      <p:sp>
        <p:nvSpPr>
          <p:cNvPr id="7" name="placeholder"/>
          <p:cNvSpPr/>
          <p:nvPr/>
        </p:nvSpPr>
        <p:spPr>
          <a:xfrm>
            <a:off x="7040000" y="860000"/>
            <a:ext cx="4050000" cy="37800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dash"/>
          </a:ln>
        </p:spPr>
        <p:txBody>
          <a:bodyPr wrap="square" anchor="mid"/>
          <a:lstStyle/>
          <a:p>
            <a:pPr algn="ctr"/>
            <a:r>
              <a:rPr lang="ko-KR" sz="1500" dirty="0">
                <a:solidFill>
                  <a:srgbClr val="BEBEBE"/>
                </a:solidFill>
                <a:latin typeface="Malgun Gothic"/>
                <a:ea typeface="맑은 고딕"/>
              </a:rPr>
              <a:t>[스크린샷 삽입 예정]: 시작 화면 또는 폐도시 전경</a:t>
            </a:r>
          </a:p>
        </p:txBody>
      </p:sp>
      <p:sp>
        <p:nvSpPr>
          <p:cNvPr id="8" name="bullets"/>
          <p:cNvSpPr/>
          <p:nvPr/>
        </p:nvSpPr>
        <p:spPr>
          <a:xfrm>
            <a:off x="700000" y="3100000"/>
            <a:ext cx="575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285750" indent="-171450" algn="l">
              <a:buChar char="•"/>
            </a:pPr>
            <a:r>
              <a:rPr lang="ko-KR" sz="1400" dirty="0">
                <a:solidFill>
                  <a:srgbClr val="FFFFFF"/>
                </a:solidFill>
                <a:latin typeface="Malgun Gothic"/>
                <a:ea typeface="맑은 고딕"/>
              </a:rPr>
              <a:t>기억 구체 수집 → 기억 렌즈 복원 → 선택 처리 → 중앙 아카이브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FFFFFF"/>
                </a:solidFill>
                <a:latin typeface="Malgun Gothic"/>
                <a:ea typeface="맑은 고딕"/>
              </a:rPr>
              <a:t>폐도시의 기억을 화면과 공간의 겹침으로 복원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FFFFFF"/>
                </a:solidFill>
                <a:latin typeface="Malgun Gothic"/>
                <a:ea typeface="맑은 고딕"/>
              </a:rPr>
              <a:t>마지막에는 아카이브가 플레이어의 선택까지 기록</a:t>
            </a:r>
          </a:p>
        </p:txBody>
      </p:sp>
      <p:sp>
        <p:nvSpPr>
          <p:cNvPr id="9" name="time"/>
          <p:cNvSpPr/>
          <p:nvPr/>
        </p:nvSpPr>
        <p:spPr>
          <a:xfrm>
            <a:off x="7100000" y="532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100" dirty="0">
                <a:solidFill>
                  <a:srgbClr val="BEBEBE"/>
                </a:solidFill>
                <a:latin typeface="Malgun Gothic"/>
                <a:ea typeface="맑은 고딕"/>
              </a:rPr>
              <a:t>예상 시간: 15초</a:t>
            </a:r>
          </a:p>
        </p:txBody>
      </p:sp>
      <p:sp>
        <p:nvSpPr>
          <p:cNvPr id="10" name="footer"/>
          <p:cNvSpPr/>
          <p:nvPr/>
        </p:nvSpPr>
        <p:spPr>
          <a:xfrm>
            <a:off x="7100000" y="5800000"/>
            <a:ext cx="3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000" dirty="0">
                <a:solidFill>
                  <a:srgbClr val="BEBEBE"/>
                </a:solidFill>
                <a:latin typeface="Malgun Gothic"/>
                <a:ea typeface="맑은 고딕"/>
              </a:rPr>
              <a:t>Memory Recycler 3D | 7분 최종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num"/>
          <p:cNvSpPr/>
          <p:nvPr/>
        </p:nvSpPr>
        <p:spPr>
          <a:xfrm>
            <a:off x="620000" y="330000"/>
            <a:ext cx="6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300" dirty="0">
                <a:b/>
                <a:solidFill>
                  <a:srgbClr val="50586B"/>
                </a:solidFill>
                <a:latin typeface="Malgun Gothic"/>
                <a:ea typeface="맑은 고딕"/>
              </a:rPr>
              <a:t>02</a:t>
            </a:r>
          </a:p>
        </p:txBody>
      </p:sp>
      <p:sp>
        <p:nvSpPr>
          <p:cNvPr id="4" name="title"/>
          <p:cNvSpPr/>
          <p:nvPr/>
        </p:nvSpPr>
        <p:spPr>
          <a:xfrm>
            <a:off x="620000" y="780000"/>
            <a:ext cx="57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3300" dirty="0">
                <a:b/>
                <a:solidFill>
                  <a:srgbClr val="000000"/>
                </a:solidFill>
                <a:latin typeface="Malgun Gothic"/>
                <a:ea typeface="맑은 고딕"/>
              </a:rPr>
              <a:t>개발 배경</a:t>
            </a:r>
          </a:p>
        </p:txBody>
      </p:sp>
      <p:sp>
        <p:nvSpPr>
          <p:cNvPr id="5" name="message"/>
          <p:cNvSpPr/>
          <p:nvPr/>
        </p:nvSpPr>
        <p:spPr>
          <a:xfrm>
            <a:off x="650000" y="1700000"/>
            <a:ext cx="58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650" dirty="0">
                <a:b/>
                <a:solidFill>
                  <a:srgbClr val="00A6B4"/>
                </a:solidFill>
                <a:latin typeface="Malgun Gothic"/>
                <a:ea typeface="맑은 고딕"/>
              </a:rPr>
              <a:t>단순한 정보창이 아니라 UI 자체가 플레이가 되는 구조를 만들고자 했습니다.</a:t>
            </a:r>
          </a:p>
        </p:txBody>
      </p:sp>
      <p:sp>
        <p:nvSpPr>
          <p:cNvPr id="6" name="line"/>
          <p:cNvSpPr/>
          <p:nvPr/>
        </p:nvSpPr>
        <p:spPr>
          <a:xfrm>
            <a:off x="650000" y="2670000"/>
            <a:ext cx="1600000" cy="28000"/>
          </a:xfrm>
          <a:prstGeom prst="rect">
            <a:avLst/>
          </a:prstGeom>
          <a:solidFill>
            <a:srgbClr val="00A6B4"/>
          </a:solidFill>
          <a:ln>
            <a:noFill/>
          </a:ln>
        </p:spPr>
      </p:sp>
      <p:sp>
        <p:nvSpPr>
          <p:cNvPr id="7" name="placeholder"/>
          <p:cNvSpPr/>
          <p:nvPr/>
        </p:nvSpPr>
        <p:spPr>
          <a:xfrm>
            <a:off x="7040000" y="860000"/>
            <a:ext cx="4050000" cy="37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7D7D7"/>
            </a:solidFill>
            <a:prstDash val="dash"/>
          </a:ln>
        </p:spPr>
        <p:txBody>
          <a:bodyPr wrap="square" anchor="mid"/>
          <a:lstStyle/>
          <a:p>
            <a:pPr algn="ctr"/>
            <a:r>
              <a:rPr lang="ko-KR" sz="1500" dirty="0">
                <a:solidFill>
                  <a:srgbClr val="50586B"/>
                </a:solidFill>
                <a:latin typeface="Malgun Gothic"/>
                <a:ea typeface="맑은 고딕"/>
              </a:rPr>
              <a:t>[스크린샷 삽입 예정]: 폐도시 전경 + HUD</a:t>
            </a:r>
          </a:p>
        </p:txBody>
      </p:sp>
      <p:sp>
        <p:nvSpPr>
          <p:cNvPr id="8" name="bullets"/>
          <p:cNvSpPr/>
          <p:nvPr/>
        </p:nvSpPr>
        <p:spPr>
          <a:xfrm>
            <a:off x="700000" y="3100000"/>
            <a:ext cx="575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일반적인 탐험 게임에서 UI는 정보를 보여주는 보조 장치에 가까움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이 프로젝트는 UI를 기억을 해독하는 도구로 사용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화면과 3D 공간의 겹침을 퍼즐의 핵심으로 설계</a:t>
            </a:r>
          </a:p>
        </p:txBody>
      </p:sp>
      <p:sp>
        <p:nvSpPr>
          <p:cNvPr id="9" name="time"/>
          <p:cNvSpPr/>
          <p:nvPr/>
        </p:nvSpPr>
        <p:spPr>
          <a:xfrm>
            <a:off x="7100000" y="532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100" dirty="0">
                <a:solidFill>
                  <a:srgbClr val="50586B"/>
                </a:solidFill>
                <a:latin typeface="Malgun Gothic"/>
                <a:ea typeface="맑은 고딕"/>
              </a:rPr>
              <a:t>예상 시간: 20초</a:t>
            </a:r>
          </a:p>
        </p:txBody>
      </p:sp>
      <p:sp>
        <p:nvSpPr>
          <p:cNvPr id="10" name="footer"/>
          <p:cNvSpPr/>
          <p:nvPr/>
        </p:nvSpPr>
        <p:spPr>
          <a:xfrm>
            <a:off x="7100000" y="5800000"/>
            <a:ext cx="3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000" dirty="0">
                <a:solidFill>
                  <a:srgbClr val="50586B"/>
                </a:solidFill>
                <a:latin typeface="Malgun Gothic"/>
                <a:ea typeface="맑은 고딕"/>
              </a:rPr>
              <a:t>Memory Recycler 3D | 7분 최종 발표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num"/>
          <p:cNvSpPr/>
          <p:nvPr/>
        </p:nvSpPr>
        <p:spPr>
          <a:xfrm>
            <a:off x="620000" y="330000"/>
            <a:ext cx="6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300" dirty="0">
                <a:b/>
                <a:solidFill>
                  <a:srgbClr val="50586B"/>
                </a:solidFill>
                <a:latin typeface="Malgun Gothic"/>
                <a:ea typeface="맑은 고딕"/>
              </a:rPr>
              <a:t>03</a:t>
            </a:r>
          </a:p>
        </p:txBody>
      </p:sp>
      <p:sp>
        <p:nvSpPr>
          <p:cNvPr id="4" name="title"/>
          <p:cNvSpPr/>
          <p:nvPr/>
        </p:nvSpPr>
        <p:spPr>
          <a:xfrm>
            <a:off x="620000" y="780000"/>
            <a:ext cx="57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3300" dirty="0">
                <a:b/>
                <a:solidFill>
                  <a:srgbClr val="000000"/>
                </a:solidFill>
                <a:latin typeface="Malgun Gothic"/>
                <a:ea typeface="맑은 고딕"/>
              </a:rPr>
              <a:t>게임 콘셉트</a:t>
            </a:r>
          </a:p>
        </p:txBody>
      </p:sp>
      <p:sp>
        <p:nvSpPr>
          <p:cNvPr id="5" name="message"/>
          <p:cNvSpPr/>
          <p:nvPr/>
        </p:nvSpPr>
        <p:spPr>
          <a:xfrm>
            <a:off x="650000" y="1700000"/>
            <a:ext cx="58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650" dirty="0">
                <a:b/>
                <a:solidFill>
                  <a:srgbClr val="00A6B4"/>
                </a:solidFill>
                <a:latin typeface="Malgun Gothic"/>
                <a:ea typeface="맑은 고딕"/>
              </a:rPr>
              <a:t>플레이어는 폐도시의 기억을 수거하고 복원하는 수거원입니다.</a:t>
            </a:r>
          </a:p>
        </p:txBody>
      </p:sp>
      <p:sp>
        <p:nvSpPr>
          <p:cNvPr id="6" name="line"/>
          <p:cNvSpPr/>
          <p:nvPr/>
        </p:nvSpPr>
        <p:spPr>
          <a:xfrm>
            <a:off x="650000" y="2670000"/>
            <a:ext cx="1600000" cy="28000"/>
          </a:xfrm>
          <a:prstGeom prst="rect">
            <a:avLst/>
          </a:prstGeom>
          <a:solidFill>
            <a:srgbClr val="00A6B4"/>
          </a:solidFill>
          <a:ln>
            <a:noFill/>
          </a:ln>
        </p:spPr>
      </p:sp>
      <p:sp>
        <p:nvSpPr>
          <p:cNvPr id="7" name="placeholder"/>
          <p:cNvSpPr/>
          <p:nvPr/>
        </p:nvSpPr>
        <p:spPr>
          <a:xfrm>
            <a:off x="7040000" y="860000"/>
            <a:ext cx="4050000" cy="37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7D7D7"/>
            </a:solidFill>
            <a:prstDash val="dash"/>
          </a:ln>
        </p:spPr>
        <p:txBody>
          <a:bodyPr wrap="square" anchor="mid"/>
          <a:lstStyle/>
          <a:p>
            <a:pPr algn="ctr"/>
            <a:r>
              <a:rPr lang="ko-KR" sz="1500" dirty="0">
                <a:solidFill>
                  <a:srgbClr val="50586B"/>
                </a:solidFill>
                <a:latin typeface="Malgun Gothic"/>
                <a:ea typeface="맑은 고딕"/>
              </a:rPr>
              <a:t>[스크린샷 삽입 예정]: 기억 구체 회수 장면</a:t>
            </a:r>
          </a:p>
        </p:txBody>
      </p:sp>
      <p:sp>
        <p:nvSpPr>
          <p:cNvPr id="8" name="bullets"/>
          <p:cNvSpPr/>
          <p:nvPr/>
        </p:nvSpPr>
        <p:spPr>
          <a:xfrm>
            <a:off x="700000" y="3100000"/>
            <a:ext cx="575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기억 구체를 찾아 회수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기억 문장을 복원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보존 / 삭제 / 재가공 중 하나를 선택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처리한 기억은 중앙 아카이브 엔딩에 반영</a:t>
            </a:r>
          </a:p>
        </p:txBody>
      </p:sp>
      <p:sp>
        <p:nvSpPr>
          <p:cNvPr id="9" name="time"/>
          <p:cNvSpPr/>
          <p:nvPr/>
        </p:nvSpPr>
        <p:spPr>
          <a:xfrm>
            <a:off x="7100000" y="532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100" dirty="0">
                <a:solidFill>
                  <a:srgbClr val="50586B"/>
                </a:solidFill>
                <a:latin typeface="Malgun Gothic"/>
                <a:ea typeface="맑은 고딕"/>
              </a:rPr>
              <a:t>예상 시간: 20초</a:t>
            </a:r>
          </a:p>
        </p:txBody>
      </p:sp>
      <p:sp>
        <p:nvSpPr>
          <p:cNvPr id="10" name="footer"/>
          <p:cNvSpPr/>
          <p:nvPr/>
        </p:nvSpPr>
        <p:spPr>
          <a:xfrm>
            <a:off x="7100000" y="5800000"/>
            <a:ext cx="3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000" dirty="0">
                <a:solidFill>
                  <a:srgbClr val="50586B"/>
                </a:solidFill>
                <a:latin typeface="Malgun Gothic"/>
                <a:ea typeface="맑은 고딕"/>
              </a:rPr>
              <a:t>Memory Recycler 3D | 7분 최종 발표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num"/>
          <p:cNvSpPr/>
          <p:nvPr/>
        </p:nvSpPr>
        <p:spPr>
          <a:xfrm>
            <a:off x="620000" y="330000"/>
            <a:ext cx="6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300" dirty="0">
                <a:b/>
                <a:solidFill>
                  <a:srgbClr val="50586B"/>
                </a:solidFill>
                <a:latin typeface="Malgun Gothic"/>
                <a:ea typeface="맑은 고딕"/>
              </a:rPr>
              <a:t>04</a:t>
            </a:r>
          </a:p>
        </p:txBody>
      </p:sp>
      <p:sp>
        <p:nvSpPr>
          <p:cNvPr id="4" name="title"/>
          <p:cNvSpPr/>
          <p:nvPr/>
        </p:nvSpPr>
        <p:spPr>
          <a:xfrm>
            <a:off x="620000" y="780000"/>
            <a:ext cx="57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3300" dirty="0">
                <a:b/>
                <a:solidFill>
                  <a:srgbClr val="000000"/>
                </a:solidFill>
                <a:latin typeface="Malgun Gothic"/>
                <a:ea typeface="맑은 고딕"/>
              </a:rPr>
              <a:t>핵심 아이디어: 기억 렌즈</a:t>
            </a:r>
          </a:p>
        </p:txBody>
      </p:sp>
      <p:sp>
        <p:nvSpPr>
          <p:cNvPr id="5" name="message"/>
          <p:cNvSpPr/>
          <p:nvPr/>
        </p:nvSpPr>
        <p:spPr>
          <a:xfrm>
            <a:off x="650000" y="1700000"/>
            <a:ext cx="58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650" dirty="0">
                <a:b/>
                <a:solidFill>
                  <a:srgbClr val="00A6B4"/>
                </a:solidFill>
                <a:latin typeface="Malgun Gothic"/>
                <a:ea typeface="맑은 고딕"/>
              </a:rPr>
              <a:t>Tab은 메뉴가 아니라 현실 위에 기록을 겹쳐 보는 기억 렌즈입니다.</a:t>
            </a:r>
          </a:p>
        </p:txBody>
      </p:sp>
      <p:sp>
        <p:nvSpPr>
          <p:cNvPr id="6" name="line"/>
          <p:cNvSpPr/>
          <p:nvPr/>
        </p:nvSpPr>
        <p:spPr>
          <a:xfrm>
            <a:off x="650000" y="2670000"/>
            <a:ext cx="1600000" cy="28000"/>
          </a:xfrm>
          <a:prstGeom prst="rect">
            <a:avLst/>
          </a:prstGeom>
          <a:solidFill>
            <a:srgbClr val="00A6B4"/>
          </a:solidFill>
          <a:ln>
            <a:noFill/>
          </a:ln>
        </p:spPr>
      </p:sp>
      <p:sp>
        <p:nvSpPr>
          <p:cNvPr id="7" name="placeholder"/>
          <p:cNvSpPr/>
          <p:nvPr/>
        </p:nvSpPr>
        <p:spPr>
          <a:xfrm>
            <a:off x="7040000" y="860000"/>
            <a:ext cx="4050000" cy="37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7D7D7"/>
            </a:solidFill>
            <a:prstDash val="dash"/>
          </a:ln>
        </p:spPr>
        <p:txBody>
          <a:bodyPr wrap="square" anchor="mid"/>
          <a:lstStyle/>
          <a:p>
            <a:pPr algn="ctr"/>
            <a:r>
              <a:rPr lang="ko-KR" sz="1500" dirty="0">
                <a:solidFill>
                  <a:srgbClr val="50586B"/>
                </a:solidFill>
                <a:latin typeface="Malgun Gothic"/>
                <a:ea typeface="맑은 고딕"/>
              </a:rPr>
              <a:t>[스크린샷 삽입 예정]: Tab 기억 렌즈 ON/OFF 비교</a:t>
            </a:r>
          </a:p>
        </p:txBody>
      </p:sp>
      <p:sp>
        <p:nvSpPr>
          <p:cNvPr id="8" name="bullets"/>
          <p:cNvSpPr/>
          <p:nvPr/>
        </p:nvSpPr>
        <p:spPr>
          <a:xfrm>
            <a:off x="700000" y="3100000"/>
            <a:ext cx="575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Tab 입력으로 기억 렌즈 ON/OFF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World Space UI가 기억의 잔상처럼 표시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UI와 3D 공간을 겹쳐 기억을 복원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기록창을 플레이 메커니즘으로 전환</a:t>
            </a:r>
          </a:p>
        </p:txBody>
      </p:sp>
      <p:sp>
        <p:nvSpPr>
          <p:cNvPr id="9" name="time"/>
          <p:cNvSpPr/>
          <p:nvPr/>
        </p:nvSpPr>
        <p:spPr>
          <a:xfrm>
            <a:off x="7100000" y="532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100" dirty="0">
                <a:solidFill>
                  <a:srgbClr val="50586B"/>
                </a:solidFill>
                <a:latin typeface="Malgun Gothic"/>
                <a:ea typeface="맑은 고딕"/>
              </a:rPr>
              <a:t>예상 시간: 35초</a:t>
            </a:r>
          </a:p>
        </p:txBody>
      </p:sp>
      <p:sp>
        <p:nvSpPr>
          <p:cNvPr id="10" name="footer"/>
          <p:cNvSpPr/>
          <p:nvPr/>
        </p:nvSpPr>
        <p:spPr>
          <a:xfrm>
            <a:off x="7100000" y="5800000"/>
            <a:ext cx="3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000" dirty="0">
                <a:solidFill>
                  <a:srgbClr val="50586B"/>
                </a:solidFill>
                <a:latin typeface="Malgun Gothic"/>
                <a:ea typeface="맑은 고딕"/>
              </a:rPr>
              <a:t>Memory Recycler 3D | 7분 최종 발표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num"/>
          <p:cNvSpPr/>
          <p:nvPr/>
        </p:nvSpPr>
        <p:spPr>
          <a:xfrm>
            <a:off x="620000" y="330000"/>
            <a:ext cx="6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300" dirty="0">
                <a:b/>
                <a:solidFill>
                  <a:srgbClr val="50586B"/>
                </a:solidFill>
                <a:latin typeface="Malgun Gothic"/>
                <a:ea typeface="맑은 고딕"/>
              </a:rPr>
              <a:t>05</a:t>
            </a:r>
          </a:p>
        </p:txBody>
      </p:sp>
      <p:sp>
        <p:nvSpPr>
          <p:cNvPr id="4" name="title"/>
          <p:cNvSpPr/>
          <p:nvPr/>
        </p:nvSpPr>
        <p:spPr>
          <a:xfrm>
            <a:off x="620000" y="780000"/>
            <a:ext cx="57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3300" dirty="0">
                <a:b/>
                <a:solidFill>
                  <a:srgbClr val="000000"/>
                </a:solidFill>
                <a:latin typeface="Malgun Gothic"/>
                <a:ea typeface="맑은 고딕"/>
              </a:rPr>
              <a:t>게임 진행 흐름</a:t>
            </a:r>
          </a:p>
        </p:txBody>
      </p:sp>
      <p:sp>
        <p:nvSpPr>
          <p:cNvPr id="5" name="message"/>
          <p:cNvSpPr/>
          <p:nvPr/>
        </p:nvSpPr>
        <p:spPr>
          <a:xfrm>
            <a:off x="650000" y="1700000"/>
            <a:ext cx="58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650" dirty="0">
                <a:b/>
                <a:solidFill>
                  <a:srgbClr val="00A6B4"/>
                </a:solidFill>
                <a:latin typeface="Malgun Gothic"/>
                <a:ea typeface="맑은 고딕"/>
              </a:rPr>
              <a:t>탐색, 복원, 선택, 심문으로 이어지는 기억 처리 루프입니다.</a:t>
            </a:r>
          </a:p>
        </p:txBody>
      </p:sp>
      <p:sp>
        <p:nvSpPr>
          <p:cNvPr id="6" name="line"/>
          <p:cNvSpPr/>
          <p:nvPr/>
        </p:nvSpPr>
        <p:spPr>
          <a:xfrm>
            <a:off x="650000" y="2670000"/>
            <a:ext cx="1600000" cy="28000"/>
          </a:xfrm>
          <a:prstGeom prst="rect">
            <a:avLst/>
          </a:prstGeom>
          <a:solidFill>
            <a:srgbClr val="00A6B4"/>
          </a:solidFill>
          <a:ln>
            <a:noFill/>
          </a:ln>
        </p:spPr>
      </p:sp>
      <p:sp>
        <p:nvSpPr>
          <p:cNvPr id="7" name="placeholder"/>
          <p:cNvSpPr/>
          <p:nvPr/>
        </p:nvSpPr>
        <p:spPr>
          <a:xfrm>
            <a:off x="7040000" y="860000"/>
            <a:ext cx="4050000" cy="37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7D7D7"/>
            </a:solidFill>
            <a:prstDash val="dash"/>
          </a:ln>
        </p:spPr>
        <p:txBody>
          <a:bodyPr wrap="square" anchor="mid"/>
          <a:lstStyle/>
          <a:p>
            <a:pPr algn="ctr"/>
            <a:r>
              <a:rPr lang="ko-KR" sz="1500" dirty="0">
                <a:solidFill>
                  <a:srgbClr val="50586B"/>
                </a:solidFill>
                <a:latin typeface="Malgun Gothic"/>
                <a:ea typeface="맑은 고딕"/>
              </a:rPr>
              <a:t>[스크린샷 삽입 예정]: 게임 루프 다이어그램</a:t>
            </a:r>
          </a:p>
        </p:txBody>
      </p:sp>
      <p:sp>
        <p:nvSpPr>
          <p:cNvPr id="8" name="flow 0"/>
          <p:cNvSpPr/>
          <p:nvPr/>
        </p:nvSpPr>
        <p:spPr>
          <a:xfrm>
            <a:off x="680000" y="3160000"/>
            <a:ext cx="2500000" cy="420000"/>
          </a:xfrm>
          <a:prstGeom prst="rect">
            <a:avLst/>
          </a:prstGeom>
          <a:noFill/>
          <a:ln w="12700">
            <a:solidFill>
              <a:srgbClr val="D7D7D7"/>
            </a:solidFill>
          </a:ln>
        </p:spPr>
        <p:txBody>
          <a:bodyPr wrap="square" anchor="mid"/>
          <a:lstStyle/>
          <a:p>
            <a:pPr algn="l"/>
            <a:r>
              <a:rPr lang="ko-KR" sz="1250" dirty="0">
                <a:solidFill>
                  <a:srgbClr val="000000"/>
                </a:solidFill>
                <a:latin typeface="Malgun Gothic"/>
                <a:ea typeface="맑은 고딕"/>
              </a:rPr>
              <a:t>1. 폐도시 탐색</a:t>
            </a:r>
          </a:p>
        </p:txBody>
      </p:sp>
      <p:sp>
        <p:nvSpPr>
          <p:cNvPr id="9" name="flow 1"/>
          <p:cNvSpPr/>
          <p:nvPr/>
        </p:nvSpPr>
        <p:spPr>
          <a:xfrm>
            <a:off x="3530000" y="3160000"/>
            <a:ext cx="2500000" cy="420000"/>
          </a:xfrm>
          <a:prstGeom prst="rect">
            <a:avLst/>
          </a:prstGeom>
          <a:noFill/>
          <a:ln w="12700">
            <a:solidFill>
              <a:srgbClr val="D7D7D7"/>
            </a:solidFill>
          </a:ln>
        </p:spPr>
        <p:txBody>
          <a:bodyPr wrap="square" anchor="mid"/>
          <a:lstStyle/>
          <a:p>
            <a:pPr algn="l"/>
            <a:r>
              <a:rPr lang="ko-KR" sz="1250" dirty="0">
                <a:solidFill>
                  <a:srgbClr val="000000"/>
                </a:solidFill>
                <a:latin typeface="Malgun Gothic"/>
                <a:ea typeface="맑은 고딕"/>
              </a:rPr>
              <a:t>2. 기억 구체 회수</a:t>
            </a:r>
          </a:p>
        </p:txBody>
      </p:sp>
      <p:sp>
        <p:nvSpPr>
          <p:cNvPr id="10" name="flow 2"/>
          <p:cNvSpPr/>
          <p:nvPr/>
        </p:nvSpPr>
        <p:spPr>
          <a:xfrm>
            <a:off x="680000" y="3780000"/>
            <a:ext cx="2500000" cy="420000"/>
          </a:xfrm>
          <a:prstGeom prst="rect">
            <a:avLst/>
          </a:prstGeom>
          <a:noFill/>
          <a:ln w="12700">
            <a:solidFill>
              <a:srgbClr val="D7D7D7"/>
            </a:solidFill>
          </a:ln>
        </p:spPr>
        <p:txBody>
          <a:bodyPr wrap="square" anchor="mid"/>
          <a:lstStyle/>
          <a:p>
            <a:pPr algn="l"/>
            <a:r>
              <a:rPr lang="ko-KR" sz="1250" dirty="0">
                <a:solidFill>
                  <a:srgbClr val="000000"/>
                </a:solidFill>
                <a:latin typeface="Malgun Gothic"/>
                <a:ea typeface="맑은 고딕"/>
              </a:rPr>
              <a:t>3. 기억 복원 퍼즐</a:t>
            </a:r>
          </a:p>
        </p:txBody>
      </p:sp>
      <p:sp>
        <p:nvSpPr>
          <p:cNvPr id="11" name="flow 3"/>
          <p:cNvSpPr/>
          <p:nvPr/>
        </p:nvSpPr>
        <p:spPr>
          <a:xfrm>
            <a:off x="3530000" y="3780000"/>
            <a:ext cx="2500000" cy="420000"/>
          </a:xfrm>
          <a:prstGeom prst="rect">
            <a:avLst/>
          </a:prstGeom>
          <a:noFill/>
          <a:ln w="12700">
            <a:solidFill>
              <a:srgbClr val="D7D7D7"/>
            </a:solidFill>
          </a:ln>
        </p:spPr>
        <p:txBody>
          <a:bodyPr wrap="square" anchor="mid"/>
          <a:lstStyle/>
          <a:p>
            <a:pPr algn="l"/>
            <a:r>
              <a:rPr lang="ko-KR" sz="1250" dirty="0">
                <a:solidFill>
                  <a:srgbClr val="000000"/>
                </a:solidFill>
                <a:latin typeface="Malgun Gothic"/>
                <a:ea typeface="맑은 고딕"/>
              </a:rPr>
              <a:t>4. 보존 / 삭제 / 재가공 선택</a:t>
            </a:r>
          </a:p>
        </p:txBody>
      </p:sp>
      <p:sp>
        <p:nvSpPr>
          <p:cNvPr id="12" name="flow 4"/>
          <p:cNvSpPr/>
          <p:nvPr/>
        </p:nvSpPr>
        <p:spPr>
          <a:xfrm>
            <a:off x="680000" y="4400000"/>
            <a:ext cx="2500000" cy="420000"/>
          </a:xfrm>
          <a:prstGeom prst="rect">
            <a:avLst/>
          </a:prstGeom>
          <a:noFill/>
          <a:ln w="12700">
            <a:solidFill>
              <a:srgbClr val="D7D7D7"/>
            </a:solidFill>
          </a:ln>
        </p:spPr>
        <p:txBody>
          <a:bodyPr wrap="square" anchor="mid"/>
          <a:lstStyle/>
          <a:p>
            <a:pPr algn="l"/>
            <a:r>
              <a:rPr lang="ko-KR" sz="1250" dirty="0">
                <a:solidFill>
                  <a:srgbClr val="000000"/>
                </a:solidFill>
                <a:latin typeface="Malgun Gothic"/>
                <a:ea typeface="맑은 고딕"/>
              </a:rPr>
              <a:t>5. 중앙 아카이브 심문 / 엔딩</a:t>
            </a:r>
          </a:p>
        </p:txBody>
      </p:sp>
      <p:sp>
        <p:nvSpPr>
          <p:cNvPr id="13" name="time"/>
          <p:cNvSpPr/>
          <p:nvPr/>
        </p:nvSpPr>
        <p:spPr>
          <a:xfrm>
            <a:off x="7100000" y="532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100" dirty="0">
                <a:solidFill>
                  <a:srgbClr val="50586B"/>
                </a:solidFill>
                <a:latin typeface="Malgun Gothic"/>
                <a:ea typeface="맑은 고딕"/>
              </a:rPr>
              <a:t>예상 시간: 30초</a:t>
            </a:r>
          </a:p>
        </p:txBody>
      </p:sp>
      <p:sp>
        <p:nvSpPr>
          <p:cNvPr id="14" name="footer"/>
          <p:cNvSpPr/>
          <p:nvPr/>
        </p:nvSpPr>
        <p:spPr>
          <a:xfrm>
            <a:off x="7100000" y="5800000"/>
            <a:ext cx="3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000" dirty="0">
                <a:solidFill>
                  <a:srgbClr val="50586B"/>
                </a:solidFill>
                <a:latin typeface="Malgun Gothic"/>
                <a:ea typeface="맑은 고딕"/>
              </a:rPr>
              <a:t>Memory Recycler 3D | 7분 최종 발표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num"/>
          <p:cNvSpPr/>
          <p:nvPr/>
        </p:nvSpPr>
        <p:spPr>
          <a:xfrm>
            <a:off x="620000" y="330000"/>
            <a:ext cx="6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300" dirty="0">
                <a:b/>
                <a:solidFill>
                  <a:srgbClr val="50586B"/>
                </a:solidFill>
                <a:latin typeface="Malgun Gothic"/>
                <a:ea typeface="맑은 고딕"/>
              </a:rPr>
              <a:t>06</a:t>
            </a:r>
          </a:p>
        </p:txBody>
      </p:sp>
      <p:sp>
        <p:nvSpPr>
          <p:cNvPr id="4" name="title"/>
          <p:cNvSpPr/>
          <p:nvPr/>
        </p:nvSpPr>
        <p:spPr>
          <a:xfrm>
            <a:off x="620000" y="780000"/>
            <a:ext cx="57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3300" dirty="0">
                <a:b/>
                <a:solidFill>
                  <a:srgbClr val="000000"/>
                </a:solidFill>
                <a:latin typeface="Malgun Gothic"/>
                <a:ea typeface="맑은 고딕"/>
              </a:rPr>
              <a:t>기억 렌즈 퍼즐 3종</a:t>
            </a:r>
          </a:p>
        </p:txBody>
      </p:sp>
      <p:sp>
        <p:nvSpPr>
          <p:cNvPr id="5" name="message"/>
          <p:cNvSpPr/>
          <p:nvPr/>
        </p:nvSpPr>
        <p:spPr>
          <a:xfrm>
            <a:off x="650000" y="1700000"/>
            <a:ext cx="58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650" dirty="0">
                <a:b/>
                <a:solidFill>
                  <a:srgbClr val="00A6B4"/>
                </a:solidFill>
                <a:latin typeface="Malgun Gothic"/>
                <a:ea typeface="맑은 고딕"/>
              </a:rPr>
              <a:t>세 기억은 각각 다른 방식으로 렌즈를 사용합니다.</a:t>
            </a:r>
          </a:p>
        </p:txBody>
      </p:sp>
      <p:sp>
        <p:nvSpPr>
          <p:cNvPr id="6" name="line"/>
          <p:cNvSpPr/>
          <p:nvPr/>
        </p:nvSpPr>
        <p:spPr>
          <a:xfrm>
            <a:off x="650000" y="2670000"/>
            <a:ext cx="1600000" cy="28000"/>
          </a:xfrm>
          <a:prstGeom prst="rect">
            <a:avLst/>
          </a:prstGeom>
          <a:solidFill>
            <a:srgbClr val="00A6B4"/>
          </a:solidFill>
          <a:ln>
            <a:noFill/>
          </a:ln>
        </p:spPr>
      </p:sp>
      <p:sp>
        <p:nvSpPr>
          <p:cNvPr id="7" name="placeholder"/>
          <p:cNvSpPr/>
          <p:nvPr/>
        </p:nvSpPr>
        <p:spPr>
          <a:xfrm>
            <a:off x="7040000" y="860000"/>
            <a:ext cx="4050000" cy="37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7D7D7"/>
            </a:solidFill>
            <a:prstDash val="dash"/>
          </a:ln>
        </p:spPr>
        <p:txBody>
          <a:bodyPr wrap="square" anchor="mid"/>
          <a:lstStyle/>
          <a:p>
            <a:pPr algn="ctr"/>
            <a:r>
              <a:rPr lang="ko-KR" sz="1500" dirty="0">
                <a:solidFill>
                  <a:srgbClr val="50586B"/>
                </a:solidFill>
                <a:latin typeface="Malgun Gothic"/>
                <a:ea typeface="맑은 고딕"/>
              </a:rPr>
              <a:t>[스크린샷 삽입 예정]: LensAlign / LensOcclude / Stillness 3분할</a:t>
            </a:r>
          </a:p>
        </p:txBody>
      </p:sp>
      <p:sp>
        <p:nvSpPr>
          <p:cNvPr id="8" name="bullets"/>
          <p:cNvSpPr/>
          <p:nvPr/>
        </p:nvSpPr>
        <p:spPr>
          <a:xfrm>
            <a:off x="700000" y="3100000"/>
            <a:ext cx="575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MR3D_002 LensAlign: 빈칸을 월드 대상과 겹치기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MR3D_003 LensOcclude: 거짓 문장을 구조물로 가리기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MR3D_006 Stillness: 움직이지 않고 빈 파일 읽기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일반 기억은 Sequence 퍼즐로 복원</a:t>
            </a:r>
          </a:p>
        </p:txBody>
      </p:sp>
      <p:sp>
        <p:nvSpPr>
          <p:cNvPr id="9" name="time"/>
          <p:cNvSpPr/>
          <p:nvPr/>
        </p:nvSpPr>
        <p:spPr>
          <a:xfrm>
            <a:off x="7100000" y="532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100" dirty="0">
                <a:solidFill>
                  <a:srgbClr val="50586B"/>
                </a:solidFill>
                <a:latin typeface="Malgun Gothic"/>
                <a:ea typeface="맑은 고딕"/>
              </a:rPr>
              <a:t>예상 시간: 35초</a:t>
            </a:r>
          </a:p>
        </p:txBody>
      </p:sp>
      <p:sp>
        <p:nvSpPr>
          <p:cNvPr id="10" name="footer"/>
          <p:cNvSpPr/>
          <p:nvPr/>
        </p:nvSpPr>
        <p:spPr>
          <a:xfrm>
            <a:off x="7100000" y="5800000"/>
            <a:ext cx="3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000" dirty="0">
                <a:solidFill>
                  <a:srgbClr val="50586B"/>
                </a:solidFill>
                <a:latin typeface="Malgun Gothic"/>
                <a:ea typeface="맑은 고딕"/>
              </a:rPr>
              <a:t>Memory Recycler 3D | 7분 최종 발표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num"/>
          <p:cNvSpPr/>
          <p:nvPr/>
        </p:nvSpPr>
        <p:spPr>
          <a:xfrm>
            <a:off x="620000" y="330000"/>
            <a:ext cx="6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300" dirty="0">
                <a:b/>
                <a:solidFill>
                  <a:srgbClr val="50586B"/>
                </a:solidFill>
                <a:latin typeface="Malgun Gothic"/>
                <a:ea typeface="맑은 고딕"/>
              </a:rPr>
              <a:t>07</a:t>
            </a:r>
          </a:p>
        </p:txBody>
      </p:sp>
      <p:sp>
        <p:nvSpPr>
          <p:cNvPr id="4" name="title"/>
          <p:cNvSpPr/>
          <p:nvPr/>
        </p:nvSpPr>
        <p:spPr>
          <a:xfrm>
            <a:off x="620000" y="780000"/>
            <a:ext cx="57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3300" dirty="0">
                <a:b/>
                <a:solidFill>
                  <a:srgbClr val="000000"/>
                </a:solidFill>
                <a:latin typeface="Malgun Gothic"/>
                <a:ea typeface="맑은 고딕"/>
              </a:rPr>
              <a:t>보존 / 삭제 / 재가공</a:t>
            </a:r>
          </a:p>
        </p:txBody>
      </p:sp>
      <p:sp>
        <p:nvSpPr>
          <p:cNvPr id="5" name="message"/>
          <p:cNvSpPr/>
          <p:nvPr/>
        </p:nvSpPr>
        <p:spPr>
          <a:xfrm>
            <a:off x="650000" y="1700000"/>
            <a:ext cx="58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650" dirty="0">
                <a:b/>
                <a:solidFill>
                  <a:srgbClr val="00A6B4"/>
                </a:solidFill>
                <a:latin typeface="Malgun Gothic"/>
                <a:ea typeface="맑은 고딕"/>
              </a:rPr>
              <a:t>같은 기억도 선택에 따라 엔딩에서 다른 형태로 증언합니다.</a:t>
            </a:r>
          </a:p>
        </p:txBody>
      </p:sp>
      <p:sp>
        <p:nvSpPr>
          <p:cNvPr id="6" name="line"/>
          <p:cNvSpPr/>
          <p:nvPr/>
        </p:nvSpPr>
        <p:spPr>
          <a:xfrm>
            <a:off x="650000" y="2670000"/>
            <a:ext cx="1600000" cy="28000"/>
          </a:xfrm>
          <a:prstGeom prst="rect">
            <a:avLst/>
          </a:prstGeom>
          <a:solidFill>
            <a:srgbClr val="00A6B4"/>
          </a:solidFill>
          <a:ln>
            <a:noFill/>
          </a:ln>
        </p:spPr>
      </p:sp>
      <p:sp>
        <p:nvSpPr>
          <p:cNvPr id="7" name="placeholder"/>
          <p:cNvSpPr/>
          <p:nvPr/>
        </p:nvSpPr>
        <p:spPr>
          <a:xfrm>
            <a:off x="7040000" y="860000"/>
            <a:ext cx="4050000" cy="37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7D7D7"/>
            </a:solidFill>
            <a:prstDash val="dash"/>
          </a:ln>
        </p:spPr>
        <p:txBody>
          <a:bodyPr wrap="square" anchor="mid"/>
          <a:lstStyle/>
          <a:p>
            <a:pPr algn="ctr"/>
            <a:r>
              <a:rPr lang="ko-KR" sz="1500" dirty="0">
                <a:solidFill>
                  <a:srgbClr val="50586B"/>
                </a:solidFill>
                <a:latin typeface="Malgun Gothic"/>
                <a:ea typeface="맑은 고딕"/>
              </a:rPr>
              <a:t>[스크린샷 삽입 예정]: 보존/삭제/재가공 선택 UI</a:t>
            </a:r>
          </a:p>
        </p:txBody>
      </p:sp>
      <p:sp>
        <p:nvSpPr>
          <p:cNvPr id="8" name="bullets"/>
          <p:cNvSpPr/>
          <p:nvPr/>
        </p:nvSpPr>
        <p:spPr>
          <a:xfrm>
            <a:off x="700000" y="3100000"/>
            <a:ext cx="575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보존: 원본 기억을 그대로 남김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삭제: 증언이 공백으로 처리됨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재가공: 견딜 수 있는 이야기로 바뀌지만 기록 불일치가 남음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선택 결과가 아카이브 증언에 반영</a:t>
            </a:r>
          </a:p>
        </p:txBody>
      </p:sp>
      <p:sp>
        <p:nvSpPr>
          <p:cNvPr id="9" name="time"/>
          <p:cNvSpPr/>
          <p:nvPr/>
        </p:nvSpPr>
        <p:spPr>
          <a:xfrm>
            <a:off x="7100000" y="532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100" dirty="0">
                <a:solidFill>
                  <a:srgbClr val="50586B"/>
                </a:solidFill>
                <a:latin typeface="Malgun Gothic"/>
                <a:ea typeface="맑은 고딕"/>
              </a:rPr>
              <a:t>예상 시간: 25초</a:t>
            </a:r>
          </a:p>
        </p:txBody>
      </p:sp>
      <p:sp>
        <p:nvSpPr>
          <p:cNvPr id="10" name="footer"/>
          <p:cNvSpPr/>
          <p:nvPr/>
        </p:nvSpPr>
        <p:spPr>
          <a:xfrm>
            <a:off x="7100000" y="5800000"/>
            <a:ext cx="3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000" dirty="0">
                <a:solidFill>
                  <a:srgbClr val="50586B"/>
                </a:solidFill>
                <a:latin typeface="Malgun Gothic"/>
                <a:ea typeface="맑은 고딕"/>
              </a:rPr>
              <a:t>Memory Recycler 3D | 7분 최종 발표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num"/>
          <p:cNvSpPr/>
          <p:nvPr/>
        </p:nvSpPr>
        <p:spPr>
          <a:xfrm>
            <a:off x="620000" y="330000"/>
            <a:ext cx="6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300" dirty="0">
                <a:b/>
                <a:solidFill>
                  <a:srgbClr val="50586B"/>
                </a:solidFill>
                <a:latin typeface="Malgun Gothic"/>
                <a:ea typeface="맑은 고딕"/>
              </a:rPr>
              <a:t>08</a:t>
            </a:r>
          </a:p>
        </p:txBody>
      </p:sp>
      <p:sp>
        <p:nvSpPr>
          <p:cNvPr id="4" name="title"/>
          <p:cNvSpPr/>
          <p:nvPr/>
        </p:nvSpPr>
        <p:spPr>
          <a:xfrm>
            <a:off x="620000" y="780000"/>
            <a:ext cx="57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3300" dirty="0">
                <a:b/>
                <a:solidFill>
                  <a:srgbClr val="000000"/>
                </a:solidFill>
                <a:latin typeface="Malgun Gothic"/>
                <a:ea typeface="맑은 고딕"/>
              </a:rPr>
              <a:t>PlayerMemoryLog와 아카이브 심문</a:t>
            </a:r>
          </a:p>
        </p:txBody>
      </p:sp>
      <p:sp>
        <p:nvSpPr>
          <p:cNvPr id="5" name="message"/>
          <p:cNvSpPr/>
          <p:nvPr/>
        </p:nvSpPr>
        <p:spPr>
          <a:xfrm>
            <a:off x="650000" y="1700000"/>
            <a:ext cx="58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650" dirty="0">
                <a:b/>
                <a:solidFill>
                  <a:srgbClr val="00A6B4"/>
                </a:solidFill>
                <a:latin typeface="Malgun Gothic"/>
                <a:ea typeface="맑은 고딕"/>
              </a:rPr>
              <a:t>플레이어가 기억을 처리한다고 생각하지만 게임은 플레이어의 행동도 기억합니다.</a:t>
            </a:r>
          </a:p>
        </p:txBody>
      </p:sp>
      <p:sp>
        <p:nvSpPr>
          <p:cNvPr id="6" name="line"/>
          <p:cNvSpPr/>
          <p:nvPr/>
        </p:nvSpPr>
        <p:spPr>
          <a:xfrm>
            <a:off x="650000" y="2670000"/>
            <a:ext cx="1600000" cy="28000"/>
          </a:xfrm>
          <a:prstGeom prst="rect">
            <a:avLst/>
          </a:prstGeom>
          <a:solidFill>
            <a:srgbClr val="00A6B4"/>
          </a:solidFill>
          <a:ln>
            <a:noFill/>
          </a:ln>
        </p:spPr>
      </p:sp>
      <p:sp>
        <p:nvSpPr>
          <p:cNvPr id="7" name="placeholder"/>
          <p:cNvSpPr/>
          <p:nvPr/>
        </p:nvSpPr>
        <p:spPr>
          <a:xfrm>
            <a:off x="7040000" y="860000"/>
            <a:ext cx="4050000" cy="37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7D7D7"/>
            </a:solidFill>
            <a:prstDash val="dash"/>
          </a:ln>
        </p:spPr>
        <p:txBody>
          <a:bodyPr wrap="square" anchor="mid"/>
          <a:lstStyle/>
          <a:p>
            <a:pPr algn="ctr"/>
            <a:r>
              <a:rPr lang="ko-KR" sz="1500" dirty="0">
                <a:solidFill>
                  <a:srgbClr val="50586B"/>
                </a:solidFill>
                <a:latin typeface="Malgun Gothic"/>
                <a:ea typeface="맑은 고딕"/>
              </a:rPr>
              <a:t>[스크린샷 삽입 예정]: 아카이브 자기기록 심문 UI</a:t>
            </a:r>
          </a:p>
        </p:txBody>
      </p:sp>
      <p:sp>
        <p:nvSpPr>
          <p:cNvPr id="8" name="bullets"/>
          <p:cNvSpPr/>
          <p:nvPr/>
        </p:nvSpPr>
        <p:spPr>
          <a:xfrm>
            <a:off x="700000" y="3100000"/>
            <a:ext cx="575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첫 선택, 처리 방식, 퍼즐 오답, 렌즈 복원 방식 기록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중앙 아카이브에서 플레이어의 행동을 다시 질문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정답률에 따라 자기기록 일치 / 부분 일치 / 불일치 출력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엔딩에서 플레이어의 선택을 회수</a:t>
            </a:r>
          </a:p>
        </p:txBody>
      </p:sp>
      <p:sp>
        <p:nvSpPr>
          <p:cNvPr id="9" name="time"/>
          <p:cNvSpPr/>
          <p:nvPr/>
        </p:nvSpPr>
        <p:spPr>
          <a:xfrm>
            <a:off x="7100000" y="532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100" dirty="0">
                <a:solidFill>
                  <a:srgbClr val="50586B"/>
                </a:solidFill>
                <a:latin typeface="Malgun Gothic"/>
                <a:ea typeface="맑은 고딕"/>
              </a:rPr>
              <a:t>예상 시간: 30초</a:t>
            </a:r>
          </a:p>
        </p:txBody>
      </p:sp>
      <p:sp>
        <p:nvSpPr>
          <p:cNvPr id="10" name="footer"/>
          <p:cNvSpPr/>
          <p:nvPr/>
        </p:nvSpPr>
        <p:spPr>
          <a:xfrm>
            <a:off x="7100000" y="5800000"/>
            <a:ext cx="3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000" dirty="0">
                <a:solidFill>
                  <a:srgbClr val="50586B"/>
                </a:solidFill>
                <a:latin typeface="Malgun Gothic"/>
                <a:ea typeface="맑은 고딕"/>
              </a:rPr>
              <a:t>Memory Recycler 3D | 7분 최종 발표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num"/>
          <p:cNvSpPr/>
          <p:nvPr/>
        </p:nvSpPr>
        <p:spPr>
          <a:xfrm>
            <a:off x="620000" y="330000"/>
            <a:ext cx="6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300" dirty="0">
                <a:b/>
                <a:solidFill>
                  <a:srgbClr val="50586B"/>
                </a:solidFill>
                <a:latin typeface="Malgun Gothic"/>
                <a:ea typeface="맑은 고딕"/>
              </a:rPr>
              <a:t>09</a:t>
            </a:r>
          </a:p>
        </p:txBody>
      </p:sp>
      <p:sp>
        <p:nvSpPr>
          <p:cNvPr id="4" name="title"/>
          <p:cNvSpPr/>
          <p:nvPr/>
        </p:nvSpPr>
        <p:spPr>
          <a:xfrm>
            <a:off x="620000" y="780000"/>
            <a:ext cx="57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3300" dirty="0">
                <a:b/>
                <a:solidFill>
                  <a:srgbClr val="000000"/>
                </a:solidFill>
                <a:latin typeface="Malgun Gothic"/>
                <a:ea typeface="맑은 고딕"/>
              </a:rPr>
              <a:t>시스템 / 클래스 구조</a:t>
            </a:r>
          </a:p>
        </p:txBody>
      </p:sp>
      <p:sp>
        <p:nvSpPr>
          <p:cNvPr id="5" name="message"/>
          <p:cNvSpPr/>
          <p:nvPr/>
        </p:nvSpPr>
        <p:spPr>
          <a:xfrm>
            <a:off x="650000" y="1700000"/>
            <a:ext cx="58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650" dirty="0">
                <a:b/>
                <a:solidFill>
                  <a:srgbClr val="00A6B4"/>
                </a:solidFill>
                <a:latin typeface="Malgun Gothic"/>
                <a:ea typeface="맑은 고딕"/>
              </a:rPr>
              <a:t>기억 데이터, UI, 로그, 아카이브를 분리해 유지보수 가능한 구조로 구성했습니다.</a:t>
            </a:r>
          </a:p>
        </p:txBody>
      </p:sp>
      <p:sp>
        <p:nvSpPr>
          <p:cNvPr id="6" name="line"/>
          <p:cNvSpPr/>
          <p:nvPr/>
        </p:nvSpPr>
        <p:spPr>
          <a:xfrm>
            <a:off x="650000" y="2670000"/>
            <a:ext cx="1600000" cy="28000"/>
          </a:xfrm>
          <a:prstGeom prst="rect">
            <a:avLst/>
          </a:prstGeom>
          <a:solidFill>
            <a:srgbClr val="00A6B4"/>
          </a:solidFill>
          <a:ln>
            <a:noFill/>
          </a:ln>
        </p:spPr>
      </p:sp>
      <p:sp>
        <p:nvSpPr>
          <p:cNvPr id="7" name="placeholder"/>
          <p:cNvSpPr/>
          <p:nvPr/>
        </p:nvSpPr>
        <p:spPr>
          <a:xfrm>
            <a:off x="7040000" y="860000"/>
            <a:ext cx="4050000" cy="37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7D7D7"/>
            </a:solidFill>
            <a:prstDash val="dash"/>
          </a:ln>
        </p:spPr>
        <p:txBody>
          <a:bodyPr wrap="square" anchor="mid"/>
          <a:lstStyle/>
          <a:p>
            <a:pPr algn="ctr"/>
            <a:r>
              <a:rPr lang="ko-KR" sz="1500" dirty="0">
                <a:solidFill>
                  <a:srgbClr val="50586B"/>
                </a:solidFill>
                <a:latin typeface="Malgun Gothic"/>
                <a:ea typeface="맑은 고딕"/>
              </a:rPr>
              <a:t>[스크린샷 삽입 예정]: 시스템 구조도</a:t>
            </a:r>
          </a:p>
        </p:txBody>
      </p:sp>
      <p:sp>
        <p:nvSpPr>
          <p:cNvPr id="8" name="class table"/>
          <p:cNvSpPr/>
          <p:nvPr/>
        </p:nvSpPr>
        <p:spPr>
          <a:xfrm>
            <a:off x="690000" y="3040000"/>
            <a:ext cx="5600000" cy="2400000"/>
          </a:xfrm>
          <a:prstGeom prst="rect">
            <a:avLst/>
          </a:prstGeom>
          <a:noFill/>
          <a:ln w="12700">
            <a:solidFill>
              <a:srgbClr val="D7D7D7"/>
            </a:solidFill>
          </a:ln>
        </p:spPr>
        <p:txBody>
          <a:bodyPr wrap="square" anchor="mid"/>
          <a:lstStyle/>
          <a:p>
            <a:pPr algn="l"/>
            <a:r>
              <a:rPr lang="ko-KR" sz="1120" dirty="0">
                <a:solidFill>
                  <a:srgbClr val="000000"/>
                </a:solidFill>
                <a:latin typeface="Malgun Gothic"/>
                <a:ea typeface="맑은 고딕"/>
              </a:rPr>
              <a:t>MemoryManager3D: 기억 상태 관리</a:t>
            </a:r>
          </a:p>
          <a:p>
            <a:pPr algn="l"/>
            <a:r>
              <a:rPr lang="ko-KR" sz="1120" dirty="0">
                <a:solidFill>
                  <a:srgbClr val="000000"/>
                </a:solidFill>
                <a:latin typeface="Malgun Gothic"/>
                <a:ea typeface="맑은 고딕"/>
              </a:rPr>
              <a:t>MemoryData3D: 기억 데이터</a:t>
            </a:r>
          </a:p>
          <a:p>
            <a:pPr algn="l"/>
            <a:r>
              <a:rPr lang="ko-KR" sz="1120" dirty="0">
                <a:solidFill>
                  <a:srgbClr val="000000"/>
                </a:solidFill>
                <a:latin typeface="Malgun Gothic"/>
                <a:ea typeface="맑은 고딕"/>
              </a:rPr>
              <a:t>MemoryLensEcho3D: 월드 공간 기억 UI</a:t>
            </a:r>
          </a:p>
          <a:p>
            <a:pPr algn="l"/>
            <a:r>
              <a:rPr lang="ko-KR" sz="1120" dirty="0">
                <a:solidFill>
                  <a:srgbClr val="000000"/>
                </a:solidFill>
                <a:latin typeface="Malgun Gothic"/>
                <a:ea typeface="맑은 고딕"/>
              </a:rPr>
              <a:t>UIManager3D: HUD / 카드 / 퍼즐 / 심문 UI</a:t>
            </a:r>
          </a:p>
          <a:p>
            <a:pPr algn="l"/>
            <a:r>
              <a:rPr lang="ko-KR" sz="1120" dirty="0">
                <a:solidFill>
                  <a:srgbClr val="000000"/>
                </a:solidFill>
                <a:latin typeface="Malgun Gothic"/>
                <a:ea typeface="맑은 고딕"/>
              </a:rPr>
              <a:t>PlayerMemoryLog3D: 플레이 행동 기록</a:t>
            </a:r>
          </a:p>
          <a:p>
            <a:pPr algn="l"/>
            <a:r>
              <a:rPr lang="ko-KR" sz="1120" dirty="0">
                <a:solidFill>
                  <a:srgbClr val="000000"/>
                </a:solidFill>
                <a:latin typeface="Malgun Gothic"/>
                <a:ea typeface="맑은 고딕"/>
              </a:rPr>
              <a:t>ArchiveTerminal3D: 중앙 아카이브와 엔딩 진입</a:t>
            </a:r>
          </a:p>
        </p:txBody>
      </p:sp>
      <p:sp>
        <p:nvSpPr>
          <p:cNvPr id="9" name="time"/>
          <p:cNvSpPr/>
          <p:nvPr/>
        </p:nvSpPr>
        <p:spPr>
          <a:xfrm>
            <a:off x="7100000" y="532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100" dirty="0">
                <a:solidFill>
                  <a:srgbClr val="50586B"/>
                </a:solidFill>
                <a:latin typeface="Malgun Gothic"/>
                <a:ea typeface="맑은 고딕"/>
              </a:rPr>
              <a:t>예상 시간: 30초</a:t>
            </a:r>
          </a:p>
        </p:txBody>
      </p:sp>
      <p:sp>
        <p:nvSpPr>
          <p:cNvPr id="10" name="footer"/>
          <p:cNvSpPr/>
          <p:nvPr/>
        </p:nvSpPr>
        <p:spPr>
          <a:xfrm>
            <a:off x="7100000" y="5800000"/>
            <a:ext cx="3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000" dirty="0">
                <a:solidFill>
                  <a:srgbClr val="50586B"/>
                </a:solidFill>
                <a:latin typeface="Malgun Gothic"/>
                <a:ea typeface="맑은 고딕"/>
              </a:rPr>
              <a:t>Memory Recycler 3D | 7분 최종 발표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num"/>
          <p:cNvSpPr/>
          <p:nvPr/>
        </p:nvSpPr>
        <p:spPr>
          <a:xfrm>
            <a:off x="620000" y="330000"/>
            <a:ext cx="6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300" dirty="0">
                <a:b/>
                <a:solidFill>
                  <a:srgbClr val="BEBEBE"/>
                </a:solidFill>
                <a:latin typeface="Malgun Gothic"/>
                <a:ea typeface="맑은 고딕"/>
              </a:rPr>
              <a:t>10</a:t>
            </a:r>
          </a:p>
        </p:txBody>
      </p:sp>
      <p:sp>
        <p:nvSpPr>
          <p:cNvPr id="4" name="title"/>
          <p:cNvSpPr/>
          <p:nvPr/>
        </p:nvSpPr>
        <p:spPr>
          <a:xfrm>
            <a:off x="620000" y="780000"/>
            <a:ext cx="57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3300" dirty="0">
                <a:b/>
                <a:solidFill>
                  <a:srgbClr val="FFFFFF"/>
                </a:solidFill>
                <a:latin typeface="Malgun Gothic"/>
                <a:ea typeface="맑은 고딕"/>
              </a:rPr>
              <a:t>시연 영상</a:t>
            </a:r>
          </a:p>
        </p:txBody>
      </p:sp>
      <p:sp>
        <p:nvSpPr>
          <p:cNvPr id="5" name="message"/>
          <p:cNvSpPr/>
          <p:nvPr/>
        </p:nvSpPr>
        <p:spPr>
          <a:xfrm>
            <a:off x="650000" y="1700000"/>
            <a:ext cx="58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650" dirty="0">
                <a:b/>
                <a:solidFill>
                  <a:srgbClr val="FFFFFF"/>
                </a:solidFill>
                <a:latin typeface="Malgun Gothic"/>
                <a:ea typeface="맑은 고딕"/>
              </a:rPr>
              <a:t>핵심 루프와 기억 렌즈 퍼즐, 아카이브 심문을 2분 30초로 압축해 보여드립니다.</a:t>
            </a:r>
          </a:p>
        </p:txBody>
      </p:sp>
      <p:sp>
        <p:nvSpPr>
          <p:cNvPr id="6" name="line"/>
          <p:cNvSpPr/>
          <p:nvPr/>
        </p:nvSpPr>
        <p:spPr>
          <a:xfrm>
            <a:off x="650000" y="2670000"/>
            <a:ext cx="1600000" cy="28000"/>
          </a:xfrm>
          <a:prstGeom prst="rect">
            <a:avLst/>
          </a:prstGeom>
          <a:solidFill>
            <a:srgbClr val="00A6B4"/>
          </a:solidFill>
          <a:ln>
            <a:noFill/>
          </a:ln>
        </p:spPr>
      </p:sp>
      <p:sp>
        <p:nvSpPr>
          <p:cNvPr id="7" name="placeholder"/>
          <p:cNvSpPr/>
          <p:nvPr/>
        </p:nvSpPr>
        <p:spPr>
          <a:xfrm>
            <a:off x="7040000" y="860000"/>
            <a:ext cx="4050000" cy="37800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dash"/>
          </a:ln>
        </p:spPr>
        <p:txBody>
          <a:bodyPr wrap="square" anchor="mid"/>
          <a:lstStyle/>
          <a:p>
            <a:pPr algn="ctr"/>
            <a:r>
              <a:rPr lang="ko-KR" sz="1500" dirty="0">
                <a:solidFill>
                  <a:srgbClr val="BEBEBE"/>
                </a:solidFill>
                <a:latin typeface="Malgun Gothic"/>
                <a:ea typeface="맑은 고딕"/>
              </a:rPr>
              <a:t>[시연 영상 삽입 예정]: 시연 영상 삽입 예정: 2분 30초</a:t>
            </a:r>
          </a:p>
        </p:txBody>
      </p:sp>
      <p:sp>
        <p:nvSpPr>
          <p:cNvPr id="8" name="bullets"/>
          <p:cNvSpPr/>
          <p:nvPr/>
        </p:nvSpPr>
        <p:spPr>
          <a:xfrm>
            <a:off x="700000" y="3100000"/>
            <a:ext cx="575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285750" indent="-171450" algn="l">
              <a:buChar char="•"/>
            </a:pPr>
            <a:r>
              <a:rPr lang="ko-KR" sz="1400" dirty="0">
                <a:solidFill>
                  <a:srgbClr val="FFFFFF"/>
                </a:solidFill>
                <a:latin typeface="Malgun Gothic"/>
                <a:ea typeface="맑은 고딕"/>
              </a:rPr>
              <a:t>기억 구체 회수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FFFFFF"/>
                </a:solidFill>
                <a:latin typeface="Malgun Gothic"/>
                <a:ea typeface="맑은 고딕"/>
              </a:rPr>
              <a:t>Tab 기억 렌즈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FFFFFF"/>
                </a:solidFill>
                <a:latin typeface="Malgun Gothic"/>
                <a:ea typeface="맑은 고딕"/>
              </a:rPr>
              <a:t>LensAlign / LensOcclude / Stillness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FFFFFF"/>
                </a:solidFill>
                <a:latin typeface="Malgun Gothic"/>
                <a:ea typeface="맑은 고딕"/>
              </a:rPr>
              <a:t>보존 / 삭제 / 재가공 선택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FFFFFF"/>
                </a:solidFill>
                <a:latin typeface="Malgun Gothic"/>
                <a:ea typeface="맑은 고딕"/>
              </a:rPr>
              <a:t>아카이브 심문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FFFFFF"/>
                </a:solidFill>
                <a:latin typeface="Malgun Gothic"/>
                <a:ea typeface="맑은 고딕"/>
              </a:rPr>
              <a:t>엔딩</a:t>
            </a:r>
          </a:p>
        </p:txBody>
      </p:sp>
      <p:sp>
        <p:nvSpPr>
          <p:cNvPr id="9" name="time"/>
          <p:cNvSpPr/>
          <p:nvPr/>
        </p:nvSpPr>
        <p:spPr>
          <a:xfrm>
            <a:off x="7100000" y="532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100" dirty="0">
                <a:solidFill>
                  <a:srgbClr val="BEBEBE"/>
                </a:solidFill>
                <a:latin typeface="Malgun Gothic"/>
                <a:ea typeface="맑은 고딕"/>
              </a:rPr>
              <a:t>예상 시간: 2분 30초</a:t>
            </a:r>
          </a:p>
        </p:txBody>
      </p:sp>
      <p:sp>
        <p:nvSpPr>
          <p:cNvPr id="10" name="footer"/>
          <p:cNvSpPr/>
          <p:nvPr/>
        </p:nvSpPr>
        <p:spPr>
          <a:xfrm>
            <a:off x="7100000" y="5800000"/>
            <a:ext cx="3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000" dirty="0">
                <a:solidFill>
                  <a:srgbClr val="BEBEBE"/>
                </a:solidFill>
                <a:latin typeface="Malgun Gothic"/>
                <a:ea typeface="맑은 고딕"/>
              </a:rPr>
              <a:t>Memory Recycler 3D | 7분 최종 발표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num"/>
          <p:cNvSpPr/>
          <p:nvPr/>
        </p:nvSpPr>
        <p:spPr>
          <a:xfrm>
            <a:off x="620000" y="330000"/>
            <a:ext cx="6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300" dirty="0">
                <a:b/>
                <a:solidFill>
                  <a:srgbClr val="50586B"/>
                </a:solidFill>
                <a:latin typeface="Malgun Gothic"/>
                <a:ea typeface="맑은 고딕"/>
              </a:rPr>
              <a:t>11</a:t>
            </a:r>
          </a:p>
        </p:txBody>
      </p:sp>
      <p:sp>
        <p:nvSpPr>
          <p:cNvPr id="4" name="title"/>
          <p:cNvSpPr/>
          <p:nvPr/>
        </p:nvSpPr>
        <p:spPr>
          <a:xfrm>
            <a:off x="620000" y="780000"/>
            <a:ext cx="57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3300" dirty="0">
                <a:b/>
                <a:solidFill>
                  <a:srgbClr val="000000"/>
                </a:solidFill>
                <a:latin typeface="Malgun Gothic"/>
                <a:ea typeface="맑은 고딕"/>
              </a:rPr>
              <a:t>한계점 및 개선 방향</a:t>
            </a:r>
          </a:p>
        </p:txBody>
      </p:sp>
      <p:sp>
        <p:nvSpPr>
          <p:cNvPr id="5" name="message"/>
          <p:cNvSpPr/>
          <p:nvPr/>
        </p:nvSpPr>
        <p:spPr>
          <a:xfrm>
            <a:off x="650000" y="1700000"/>
            <a:ext cx="58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650" dirty="0">
                <a:b/>
                <a:solidFill>
                  <a:srgbClr val="00A6B4"/>
                </a:solidFill>
                <a:latin typeface="Malgun Gothic"/>
                <a:ea typeface="맑은 고딕"/>
              </a:rPr>
              <a:t>핵심 시스템은 구현했지만 콘텐츠와 연출 확장이 필요합니다.</a:t>
            </a:r>
          </a:p>
        </p:txBody>
      </p:sp>
      <p:sp>
        <p:nvSpPr>
          <p:cNvPr id="6" name="line"/>
          <p:cNvSpPr/>
          <p:nvPr/>
        </p:nvSpPr>
        <p:spPr>
          <a:xfrm>
            <a:off x="650000" y="2670000"/>
            <a:ext cx="1600000" cy="28000"/>
          </a:xfrm>
          <a:prstGeom prst="rect">
            <a:avLst/>
          </a:prstGeom>
          <a:solidFill>
            <a:srgbClr val="00A6B4"/>
          </a:solidFill>
          <a:ln>
            <a:noFill/>
          </a:ln>
        </p:spPr>
      </p:sp>
      <p:sp>
        <p:nvSpPr>
          <p:cNvPr id="7" name="placeholder"/>
          <p:cNvSpPr/>
          <p:nvPr/>
        </p:nvSpPr>
        <p:spPr>
          <a:xfrm>
            <a:off x="7040000" y="860000"/>
            <a:ext cx="4050000" cy="378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7D7D7"/>
            </a:solidFill>
            <a:prstDash val="dash"/>
          </a:ln>
        </p:spPr>
        <p:txBody>
          <a:bodyPr wrap="square" anchor="mid"/>
          <a:lstStyle/>
          <a:p>
            <a:pPr algn="ctr"/>
            <a:r>
              <a:rPr lang="ko-KR" sz="1500" dirty="0">
                <a:solidFill>
                  <a:srgbClr val="50586B"/>
                </a:solidFill>
                <a:latin typeface="Malgun Gothic"/>
                <a:ea typeface="맑은 고딕"/>
              </a:rPr>
              <a:t>[스크린샷 삽입 예정]: 중앙 아카이브 또는 엔딩 화면</a:t>
            </a:r>
          </a:p>
        </p:txBody>
      </p:sp>
      <p:sp>
        <p:nvSpPr>
          <p:cNvPr id="8" name="bullets"/>
          <p:cNvSpPr/>
          <p:nvPr/>
        </p:nvSpPr>
        <p:spPr>
          <a:xfrm>
            <a:off x="700000" y="3100000"/>
            <a:ext cx="575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기억 데이터 8개 중 특수 렌즈 퍼즐은 3개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폐도시 공간과 스토리 반전 보강 필요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사운드와 카메라 연출 추가 가능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000000"/>
                </a:solidFill>
                <a:latin typeface="Malgun Gothic"/>
                <a:ea typeface="맑은 고딕"/>
              </a:rPr>
              <a:t>렌즈 퍼즐 종류와 시퀀스 확장 가능</a:t>
            </a:r>
          </a:p>
        </p:txBody>
      </p:sp>
      <p:sp>
        <p:nvSpPr>
          <p:cNvPr id="9" name="time"/>
          <p:cNvSpPr/>
          <p:nvPr/>
        </p:nvSpPr>
        <p:spPr>
          <a:xfrm>
            <a:off x="7100000" y="532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100" dirty="0">
                <a:solidFill>
                  <a:srgbClr val="50586B"/>
                </a:solidFill>
                <a:latin typeface="Malgun Gothic"/>
                <a:ea typeface="맑은 고딕"/>
              </a:rPr>
              <a:t>예상 시간: 20초</a:t>
            </a:r>
          </a:p>
        </p:txBody>
      </p:sp>
      <p:sp>
        <p:nvSpPr>
          <p:cNvPr id="10" name="footer"/>
          <p:cNvSpPr/>
          <p:nvPr/>
        </p:nvSpPr>
        <p:spPr>
          <a:xfrm>
            <a:off x="7100000" y="5800000"/>
            <a:ext cx="3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000" dirty="0">
                <a:solidFill>
                  <a:srgbClr val="50586B"/>
                </a:solidFill>
                <a:latin typeface="Malgun Gothic"/>
                <a:ea typeface="맑은 고딕"/>
              </a:rPr>
              <a:t>Memory Recycler 3D | 7분 최종 발표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" name="num"/>
          <p:cNvSpPr/>
          <p:nvPr/>
        </p:nvSpPr>
        <p:spPr>
          <a:xfrm>
            <a:off x="620000" y="330000"/>
            <a:ext cx="6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300" dirty="0">
                <a:b/>
                <a:solidFill>
                  <a:srgbClr val="BEBEBE"/>
                </a:solidFill>
                <a:latin typeface="Malgun Gothic"/>
                <a:ea typeface="맑은 고딕"/>
              </a:rPr>
              <a:t>12</a:t>
            </a:r>
          </a:p>
        </p:txBody>
      </p:sp>
      <p:sp>
        <p:nvSpPr>
          <p:cNvPr id="4" name="title"/>
          <p:cNvSpPr/>
          <p:nvPr/>
        </p:nvSpPr>
        <p:spPr>
          <a:xfrm>
            <a:off x="620000" y="780000"/>
            <a:ext cx="57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3300" dirty="0">
                <a:b/>
                <a:solidFill>
                  <a:srgbClr val="FFFFFF"/>
                </a:solidFill>
                <a:latin typeface="Malgun Gothic"/>
                <a:ea typeface="맑은 고딕"/>
              </a:rPr>
              <a:t>마무리 / Q&amp;A</a:t>
            </a:r>
          </a:p>
        </p:txBody>
      </p:sp>
      <p:sp>
        <p:nvSpPr>
          <p:cNvPr id="5" name="message"/>
          <p:cNvSpPr/>
          <p:nvPr/>
        </p:nvSpPr>
        <p:spPr>
          <a:xfrm>
            <a:off x="650000" y="1700000"/>
            <a:ext cx="585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650" dirty="0">
                <a:b/>
                <a:solidFill>
                  <a:srgbClr val="FFFFFF"/>
                </a:solidFill>
                <a:latin typeface="Malgun Gothic"/>
                <a:ea typeface="맑은 고딕"/>
              </a:rPr>
              <a:t>Memory Recycler 3D는 UI를 렌즈로 바꾸고 마지막에는 플레이어의 행동까지 기억하는 게임입니다.</a:t>
            </a:r>
          </a:p>
        </p:txBody>
      </p:sp>
      <p:sp>
        <p:nvSpPr>
          <p:cNvPr id="6" name="line"/>
          <p:cNvSpPr/>
          <p:nvPr/>
        </p:nvSpPr>
        <p:spPr>
          <a:xfrm>
            <a:off x="650000" y="2670000"/>
            <a:ext cx="1600000" cy="28000"/>
          </a:xfrm>
          <a:prstGeom prst="rect">
            <a:avLst/>
          </a:prstGeom>
          <a:solidFill>
            <a:srgbClr val="00A6B4"/>
          </a:solidFill>
          <a:ln>
            <a:noFill/>
          </a:ln>
        </p:spPr>
      </p:sp>
      <p:sp>
        <p:nvSpPr>
          <p:cNvPr id="7" name="placeholder"/>
          <p:cNvSpPr/>
          <p:nvPr/>
        </p:nvSpPr>
        <p:spPr>
          <a:xfrm>
            <a:off x="7040000" y="860000"/>
            <a:ext cx="4050000" cy="37800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dash"/>
          </a:ln>
        </p:spPr>
        <p:txBody>
          <a:bodyPr wrap="square" anchor="mid"/>
          <a:lstStyle/>
          <a:p>
            <a:pPr algn="ctr"/>
            <a:r>
              <a:rPr lang="ko-KR" sz="1500" dirty="0">
                <a:solidFill>
                  <a:srgbClr val="BEBEBE"/>
                </a:solidFill>
                <a:latin typeface="Malgun Gothic"/>
                <a:ea typeface="맑은 고딕"/>
              </a:rPr>
              <a:t>[스크린샷 삽입 예정]: 엔딩 핵심 문장</a:t>
            </a:r>
          </a:p>
        </p:txBody>
      </p:sp>
      <p:sp>
        <p:nvSpPr>
          <p:cNvPr id="8" name="bullets"/>
          <p:cNvSpPr/>
          <p:nvPr/>
        </p:nvSpPr>
        <p:spPr>
          <a:xfrm>
            <a:off x="700000" y="3100000"/>
            <a:ext cx="575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marL="285750" indent="-171450" algn="l">
              <a:buChar char="•"/>
            </a:pPr>
            <a:r>
              <a:rPr lang="ko-KR" sz="1400" dirty="0">
                <a:solidFill>
                  <a:srgbClr val="FFFFFF"/>
                </a:solidFill>
                <a:latin typeface="Malgun Gothic"/>
                <a:ea typeface="맑은 고딕"/>
              </a:rPr>
              <a:t>UI를 3D 공간과 겹치는 퍼즐로 사용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FFFFFF"/>
                </a:solidFill>
                <a:latin typeface="Malgun Gothic"/>
                <a:ea typeface="맑은 고딕"/>
              </a:rPr>
              <a:t>보존 / 삭제 / 재가공 선택을 엔딩에 반영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FFFFFF"/>
                </a:solidFill>
                <a:latin typeface="Malgun Gothic"/>
                <a:ea typeface="맑은 고딕"/>
              </a:rPr>
              <a:t>PlayerMemoryLog를 통한 자기기록 심문</a:t>
            </a:r>
          </a:p>
          <a:p>
            <a:pPr marL="285750" indent="-171450" algn="l">
              <a:buChar char="•"/>
            </a:pPr>
            <a:r>
              <a:rPr lang="ko-KR" sz="1400" dirty="0">
                <a:solidFill>
                  <a:srgbClr val="FFFFFF"/>
                </a:solidFill>
                <a:latin typeface="Malgun Gothic"/>
                <a:ea typeface="맑은 고딕"/>
              </a:rPr>
              <a:t>질문 감사합니다</a:t>
            </a:r>
          </a:p>
        </p:txBody>
      </p:sp>
      <p:sp>
        <p:nvSpPr>
          <p:cNvPr id="9" name="time"/>
          <p:cNvSpPr/>
          <p:nvPr/>
        </p:nvSpPr>
        <p:spPr>
          <a:xfrm>
            <a:off x="7100000" y="532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100" dirty="0">
                <a:solidFill>
                  <a:srgbClr val="BEBEBE"/>
                </a:solidFill>
                <a:latin typeface="Malgun Gothic"/>
                <a:ea typeface="맑은 고딕"/>
              </a:rPr>
              <a:t>예상 시간: 10초</a:t>
            </a:r>
          </a:p>
        </p:txBody>
      </p:sp>
      <p:sp>
        <p:nvSpPr>
          <p:cNvPr id="10" name="footer"/>
          <p:cNvSpPr/>
          <p:nvPr/>
        </p:nvSpPr>
        <p:spPr>
          <a:xfrm>
            <a:off x="7100000" y="5800000"/>
            <a:ext cx="3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/>
            <a:r>
              <a:rPr lang="ko-KR" sz="1000" dirty="0">
                <a:solidFill>
                  <a:srgbClr val="BEBEBE"/>
                </a:solidFill>
                <a:latin typeface="Malgun Gothic"/>
                <a:ea typeface="맑은 고딕"/>
              </a:rPr>
              <a:t>Memory Recycler 3D | 7분 최종 발표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R3D White Black">
  <a:themeElements>
    <a:clrScheme name="MR3D">
      <a:dk1>
        <a:srgbClr val="000000"/>
      </a:dk1>
      <a:lt1>
        <a:srgbClr val="FFFFFF"/>
      </a:lt1>
      <a:dk2>
        <a:srgbClr val="50586B"/>
      </a:dk2>
      <a:lt2>
        <a:srgbClr val="F2F2F2"/>
      </a:lt2>
      <a:accent1>
        <a:srgbClr val="00A6B4"/>
      </a:accent1>
      <a:accent2>
        <a:srgbClr val="50586B"/>
      </a:accent2>
      <a:accent3>
        <a:srgbClr val="D7D7D7"/>
      </a:accent3>
      <a:accent4>
        <a:srgbClr val="000000"/>
      </a:accent4>
      <a:accent5>
        <a:srgbClr val="FFFFFF"/>
      </a:accent5>
      <a:accent6>
        <a:srgbClr val="BEBEBE"/>
      </a:accent6>
      <a:hlink>
        <a:srgbClr val="00A6B4"/>
      </a:hlink>
      <a:folHlink>
        <a:srgbClr val="50586B"/>
      </a:folHlink>
    </a:clrScheme>
    <a:fontScheme name="MR3D">
      <a:majorFont>
        <a:latin typeface="Malgun Gothic"/>
        <a:ea typeface="맑은 고딕"/>
        <a:cs typeface="Arial"/>
      </a:majorFont>
      <a:minorFont>
        <a:latin typeface="Malgun Gothic"/>
        <a:ea typeface="맑은 고딕"/>
        <a:cs typeface="Arial"/>
      </a:minorFont>
    </a:fontScheme>
    <a:fmtScheme name="MR3D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Codex OpenXML</Application>
  <PresentationFormat>On-screen Show (16:9)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>
  <dc:title>Memory Recycler 3D Final Presentation</dc:title>
  <dc:creator>Codex</dc:creator>
  <cp:lastModifiedBy>Codex</cp:lastModifiedBy>
</cp:coreProperties>
</file>