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5" d="100"/>
          <a:sy n="45" d="100"/>
        </p:scale>
        <p:origin x="664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18EC6A-E0BF-49D6-3BA9-B5AD054DB1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9D77BC9-288E-F9C3-A454-5CF82A549F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F83ADAD-9763-9095-DC67-D36052896B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1A9A5-B124-4416-BA75-7DF487EC3D9A}" type="datetimeFigureOut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54918DD-75CF-8A73-FC05-ACEC5C3F6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A82863-6B08-8232-0753-EB7759FCC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48FC3-0080-4A82-AD1F-C5B172BFBBD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3282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E1C4C5-550F-C881-7F9F-0265464E1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018EE58-4E68-14DB-28EA-2552E2BA4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52B3F3-1017-D4CD-D573-56985B84A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1A9A5-B124-4416-BA75-7DF487EC3D9A}" type="datetimeFigureOut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9538F6-8808-E17D-2CE4-28418D4E23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0C70CA-B745-E926-81B7-CA8AF6E58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48FC3-0080-4A82-AD1F-C5B172BFBBD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5395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822AA7-4E1C-B52A-4DE8-B19D08722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B692C24-6796-E40F-C7CC-7730DB8175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91B335-3CA4-5566-F9FF-75CE4206C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1A9A5-B124-4416-BA75-7DF487EC3D9A}" type="datetimeFigureOut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CA1ED25-DA5E-7914-73D3-0C0AEA189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24CD4F2-67DD-F434-8670-9D87E7600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48FC3-0080-4A82-AD1F-C5B172BFBBD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16714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B41D60-5A11-3E4D-9960-818E9E46B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0908AB-618E-5F85-821C-D6239E4A32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6A2BE8A-B945-A844-70FC-04EC89EA02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B4D9098-7C0F-3C0A-9AC3-E27E6E098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1A9A5-B124-4416-BA75-7DF487EC3D9A}" type="datetimeFigureOut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6D9F61E-3423-B1A1-8AD1-BF265ED285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7094A44-FE1D-95FA-8375-7E063A195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48FC3-0080-4A82-AD1F-C5B172BFBBD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305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18DF91-8A01-21D3-968A-73D493A2DD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7AE5D3C-C290-7744-4EAB-5886A2D5E9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D86BC76-08A6-4C66-90FC-A42732FD5A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B96BC42-4254-4F02-5D9B-F5663AA20D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1C3E53-C85F-00AF-7F79-B5299D0E6C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6BE69E1-8E0B-1E04-8C20-4C068440A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1A9A5-B124-4416-BA75-7DF487EC3D9A}" type="datetimeFigureOut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0809F25-736A-8C57-4C3A-A95837CC7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FBCB02A-9F7D-A44E-51E0-B792E064E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48FC3-0080-4A82-AD1F-C5B172BFBBD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1297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A396E3-7D46-D908-3BAF-6D6AD916F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C399253-3674-D25F-7749-3D9D27463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1A9A5-B124-4416-BA75-7DF487EC3D9A}" type="datetimeFigureOut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C66C8E2-6BE7-C52B-C8BE-BF1BBD77F4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695DAAC-86CC-1016-1C91-D60C660FA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48FC3-0080-4A82-AD1F-C5B172BFBBD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1276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BFDEC5-1D41-A3EE-8EE8-FDAB6AC45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1A9A5-B124-4416-BA75-7DF487EC3D9A}" type="datetimeFigureOut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B9CB341-E1B3-CC46-089A-27B9D3DA4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080FA3-E5B7-A4E1-A997-2A31CAC01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48FC3-0080-4A82-AD1F-C5B172BFBBD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0755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1C7E0D-7BD6-94BC-A625-714772F25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5A1BD8-11E7-0EAF-7BA6-841CD2356E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A023669-069D-5396-196A-E3F557A023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94DA131-E653-C81D-3403-095AB19C1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1A9A5-B124-4416-BA75-7DF487EC3D9A}" type="datetimeFigureOut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17911C3-E002-88E6-D087-8A3941494E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D77ABAE-8AA2-5FB1-B9A9-A16DD582D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48FC3-0080-4A82-AD1F-C5B172BFBBD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1837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6FA3AF-10AF-EAE9-A4CD-D8153B58BA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33D2A15-33E4-BCC1-4108-C21B502365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D412231-D71E-659C-EEEB-D515B765AF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2609109-3423-41B4-548D-FCA06E8CA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1A9A5-B124-4416-BA75-7DF487EC3D9A}" type="datetimeFigureOut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A4F4C4F-C3C0-17E6-C9F7-43F4AE82A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36CAE7E-4092-54D4-DE6D-8F5871E19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48FC3-0080-4A82-AD1F-C5B172BFBBD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33031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9E6387-5A19-F6CC-1997-A5BB5189D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3CD553E-ED9F-6E6A-2253-B3F8B1EDB8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A4796C-2617-25C3-D8D7-FACA7344E2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1A9A5-B124-4416-BA75-7DF487EC3D9A}" type="datetimeFigureOut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B638F2-75EB-64CA-40A7-9739DD182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45F604A-DD0C-736F-BF47-EF71AD8C5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48FC3-0080-4A82-AD1F-C5B172BFBBD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93867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2D92D39-2F2F-C398-25D7-5384713621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0409A1C-B964-4E32-43F8-279BD7EFF2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3B55106-2AA5-221A-158A-FB9DC044F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1A9A5-B124-4416-BA75-7DF487EC3D9A}" type="datetimeFigureOut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D9241D-4401-3C11-B334-6CDBB6BD4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B8F155-F6B4-A8BB-0DBC-7C7527A3E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48FC3-0080-4A82-AD1F-C5B172BFBBD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07096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61E1F13-EF53-4E88-7CBE-CCA1B9B70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5D52E1A-3FC8-D70B-DE12-364849A5CF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F128CC-A351-84E4-DC7A-C677944389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81A9A5-B124-4416-BA75-7DF487EC3D9A}" type="datetimeFigureOut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0B906C3-A5A4-6951-D6B1-75F414A5C7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FCCAE4C-CBB8-11C5-B4EF-4B16D91E01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248FC3-0080-4A82-AD1F-C5B172BFBBD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082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500935-04DF-0E6D-64CC-28B2A131A905}"/>
              </a:ext>
            </a:extLst>
          </p:cNvPr>
          <p:cNvSpPr txBox="1"/>
          <p:nvPr/>
        </p:nvSpPr>
        <p:spPr>
          <a:xfrm>
            <a:off x="762000" y="685800"/>
            <a:ext cx="4572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900">
                <a:solidFill>
                  <a:srgbClr val="696969"/>
                </a:solidFill>
                <a:latin typeface="Malgun Gothic" panose="020B0503020000020004" pitchFamily="50" charset="-127"/>
              </a:rPr>
              <a:t>MEMORY RECYCLER 3D | FINAL PRESENTATION</a:t>
            </a:r>
            <a:endParaRPr lang="ko-KR" altLang="en-US" sz="900">
              <a:solidFill>
                <a:srgbClr val="696969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47733B52-0D14-37FC-295F-39160084F25D}"/>
              </a:ext>
            </a:extLst>
          </p:cNvPr>
          <p:cNvCxnSpPr/>
          <p:nvPr/>
        </p:nvCxnSpPr>
        <p:spPr>
          <a:xfrm>
            <a:off x="762000" y="1041400"/>
            <a:ext cx="10668000" cy="0"/>
          </a:xfrm>
          <a:prstGeom prst="line">
            <a:avLst/>
          </a:prstGeom>
          <a:ln w="1397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A6B45AF-11DD-D09C-F73F-DE2B5A80B2A7}"/>
              </a:ext>
            </a:extLst>
          </p:cNvPr>
          <p:cNvSpPr txBox="1"/>
          <p:nvPr/>
        </p:nvSpPr>
        <p:spPr>
          <a:xfrm>
            <a:off x="762000" y="1574800"/>
            <a:ext cx="8890000" cy="76944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5000" b="1">
                <a:solidFill>
                  <a:srgbClr val="000000"/>
                </a:solidFill>
                <a:latin typeface="Malgun Gothic" panose="020B0503020000020004" pitchFamily="50" charset="-127"/>
              </a:rPr>
              <a:t>Memory Recycler 3D</a:t>
            </a:r>
            <a:endParaRPr lang="ko-KR" altLang="en-US" sz="5000" b="1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CFC8C7-AA16-D0C2-7A9E-1246D1798F35}"/>
              </a:ext>
            </a:extLst>
          </p:cNvPr>
          <p:cNvSpPr txBox="1"/>
          <p:nvPr/>
        </p:nvSpPr>
        <p:spPr>
          <a:xfrm>
            <a:off x="762000" y="2768600"/>
            <a:ext cx="82550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900">
                <a:solidFill>
                  <a:srgbClr val="373737"/>
                </a:solidFill>
                <a:latin typeface="Malgun Gothic" panose="020B0503020000020004" pitchFamily="50" charset="-127"/>
              </a:rPr>
              <a:t>기억 렌즈를 활용한 폐도시 기억 복원 퍼즐 게임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BBB2EA-070A-C434-70EB-4EBF3FB52A97}"/>
              </a:ext>
            </a:extLst>
          </p:cNvPr>
          <p:cNvSpPr txBox="1"/>
          <p:nvPr/>
        </p:nvSpPr>
        <p:spPr>
          <a:xfrm>
            <a:off x="762000" y="3987800"/>
            <a:ext cx="5461000" cy="14875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500"/>
              </a:spcAft>
            </a:pPr>
            <a:r>
              <a:rPr lang="en-US" altLang="ko-KR" sz="1600">
                <a:solidFill>
                  <a:srgbClr val="2D2D2D"/>
                </a:solidFill>
                <a:latin typeface="Malgun Gothic" panose="020B0503020000020004" pitchFamily="50" charset="-127"/>
              </a:rPr>
              <a:t>· Unity 6 URP</a:t>
            </a:r>
          </a:p>
          <a:p>
            <a:pPr>
              <a:spcAft>
                <a:spcPts val="500"/>
              </a:spcAft>
            </a:pPr>
            <a:r>
              <a:rPr lang="en-US" altLang="ko-KR" sz="1600">
                <a:solidFill>
                  <a:srgbClr val="2D2D2D"/>
                </a:solidFill>
                <a:latin typeface="Malgun Gothic" panose="020B0503020000020004" pitchFamily="50" charset="-127"/>
              </a:rPr>
              <a:t>· 3D </a:t>
            </a:r>
            <a:r>
              <a:rPr lang="ko-KR" altLang="en-US" sz="1600">
                <a:solidFill>
                  <a:srgbClr val="2D2D2D"/>
                </a:solidFill>
                <a:latin typeface="Malgun Gothic" panose="020B0503020000020004" pitchFamily="50" charset="-127"/>
              </a:rPr>
              <a:t>탐험</a:t>
            </a:r>
          </a:p>
          <a:p>
            <a:pPr>
              <a:spcAft>
                <a:spcPts val="500"/>
              </a:spcAft>
            </a:pPr>
            <a:r>
              <a:rPr lang="en-US" altLang="ko-KR" sz="1600">
                <a:solidFill>
                  <a:srgbClr val="2D2D2D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1600">
                <a:solidFill>
                  <a:srgbClr val="2D2D2D"/>
                </a:solidFill>
                <a:latin typeface="Malgun Gothic" panose="020B0503020000020004" pitchFamily="50" charset="-127"/>
              </a:rPr>
              <a:t>기억 복원</a:t>
            </a:r>
          </a:p>
          <a:p>
            <a:pPr>
              <a:spcAft>
                <a:spcPts val="500"/>
              </a:spcAft>
            </a:pPr>
            <a:r>
              <a:rPr lang="en-US" altLang="ko-KR" sz="1600">
                <a:solidFill>
                  <a:srgbClr val="2D2D2D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1600">
                <a:solidFill>
                  <a:srgbClr val="2D2D2D"/>
                </a:solidFill>
                <a:latin typeface="Malgun Gothic" panose="020B0503020000020004" pitchFamily="50" charset="-127"/>
              </a:rPr>
              <a:t>선택형 엔딩</a:t>
            </a:r>
          </a:p>
          <a:p>
            <a:pPr>
              <a:spcAft>
                <a:spcPts val="500"/>
              </a:spcAft>
            </a:pPr>
            <a:endParaRPr lang="ko-KR" altLang="en-US" sz="1600">
              <a:solidFill>
                <a:srgbClr val="2D2D2D"/>
              </a:solidFill>
              <a:latin typeface="Malgun Gothic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3E9957-D7BB-DD69-C96E-ABA922C945EB}"/>
              </a:ext>
            </a:extLst>
          </p:cNvPr>
          <p:cNvSpPr txBox="1"/>
          <p:nvPr/>
        </p:nvSpPr>
        <p:spPr>
          <a:xfrm>
            <a:off x="9448800" y="4267200"/>
            <a:ext cx="2032000" cy="129266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ko-KR" sz="2800" b="1">
                <a:solidFill>
                  <a:srgbClr val="000000"/>
                </a:solidFill>
                <a:latin typeface="Malgun Gothic" panose="020B0503020000020004" pitchFamily="50" charset="-127"/>
              </a:rPr>
              <a:t>FINAL</a:t>
            </a:r>
          </a:p>
          <a:p>
            <a:pPr algn="r"/>
            <a:r>
              <a:rPr lang="en-US" altLang="ko-KR" sz="2800" b="1">
                <a:solidFill>
                  <a:srgbClr val="000000"/>
                </a:solidFill>
                <a:latin typeface="Malgun Gothic" panose="020B0503020000020004" pitchFamily="50" charset="-127"/>
              </a:rPr>
              <a:t>PRESENTATION</a:t>
            </a:r>
            <a:endParaRPr lang="ko-KR" altLang="en-US" sz="2800" b="1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E08E3373-1F47-136B-0196-3EC0448815C1}"/>
              </a:ext>
            </a:extLst>
          </p:cNvPr>
          <p:cNvCxnSpPr/>
          <p:nvPr/>
        </p:nvCxnSpPr>
        <p:spPr>
          <a:xfrm>
            <a:off x="9398000" y="4089400"/>
            <a:ext cx="20574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A9F99C70-75C8-1577-0287-9228774EDA81}"/>
              </a:ext>
            </a:extLst>
          </p:cNvPr>
          <p:cNvCxnSpPr/>
          <p:nvPr/>
        </p:nvCxnSpPr>
        <p:spPr>
          <a:xfrm>
            <a:off x="9398000" y="5664200"/>
            <a:ext cx="20574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AEDDF38-CD3C-12F5-EFE8-C81F192C174E}"/>
              </a:ext>
            </a:extLst>
          </p:cNvPr>
          <p:cNvSpPr txBox="1"/>
          <p:nvPr/>
        </p:nvSpPr>
        <p:spPr>
          <a:xfrm>
            <a:off x="10693400" y="660400"/>
            <a:ext cx="8128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ko-KR" sz="3000" b="1">
                <a:solidFill>
                  <a:srgbClr val="000000"/>
                </a:solidFill>
                <a:latin typeface="Malgun Gothic" panose="020B0503020000020004" pitchFamily="50" charset="-127"/>
              </a:rPr>
              <a:t>01</a:t>
            </a:r>
            <a:endParaRPr lang="ko-KR" altLang="en-US" sz="3000" b="1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864700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576F5F-0081-2710-B782-95B835B1FB10}"/>
              </a:ext>
            </a:extLst>
          </p:cNvPr>
          <p:cNvSpPr txBox="1"/>
          <p:nvPr/>
        </p:nvSpPr>
        <p:spPr>
          <a:xfrm>
            <a:off x="762000" y="431800"/>
            <a:ext cx="11430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3400" b="1">
                <a:solidFill>
                  <a:srgbClr val="000000"/>
                </a:solidFill>
                <a:latin typeface="Malgun Gothic" panose="020B0503020000020004" pitchFamily="50" charset="-127"/>
              </a:rPr>
              <a:t>02</a:t>
            </a:r>
            <a:endParaRPr lang="ko-KR" altLang="en-US" sz="3400" b="1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F38BE8-F2D4-87F0-40EC-A30E7CB78B75}"/>
              </a:ext>
            </a:extLst>
          </p:cNvPr>
          <p:cNvSpPr txBox="1"/>
          <p:nvPr/>
        </p:nvSpPr>
        <p:spPr>
          <a:xfrm>
            <a:off x="2159000" y="533400"/>
            <a:ext cx="66040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00">
                <a:solidFill>
                  <a:srgbClr val="787878"/>
                </a:solidFill>
                <a:latin typeface="Malgun Gothic" panose="020B0503020000020004" pitchFamily="50" charset="-127"/>
              </a:rPr>
              <a:t>CONTENTS</a:t>
            </a:r>
            <a:endParaRPr lang="ko-KR" altLang="en-US" sz="800">
              <a:solidFill>
                <a:srgbClr val="787878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8A60C4C1-C4FB-7151-EB70-C78823A237DF}"/>
              </a:ext>
            </a:extLst>
          </p:cNvPr>
          <p:cNvCxnSpPr/>
          <p:nvPr/>
        </p:nvCxnSpPr>
        <p:spPr>
          <a:xfrm>
            <a:off x="2159000" y="850900"/>
            <a:ext cx="9271000" cy="0"/>
          </a:xfrm>
          <a:prstGeom prst="line">
            <a:avLst/>
          </a:prstGeom>
          <a:ln w="9525">
            <a:solidFill>
              <a:srgbClr val="D2D2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9B6CA03-7D67-7AA7-49E2-C78E9B4806EF}"/>
              </a:ext>
            </a:extLst>
          </p:cNvPr>
          <p:cNvSpPr txBox="1"/>
          <p:nvPr/>
        </p:nvSpPr>
        <p:spPr>
          <a:xfrm>
            <a:off x="762000" y="1219200"/>
            <a:ext cx="53340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4200" b="1">
                <a:solidFill>
                  <a:srgbClr val="000000"/>
                </a:solidFill>
                <a:latin typeface="Malgun Gothic" panose="020B0503020000020004" pitchFamily="50" charset="-127"/>
              </a:rPr>
              <a:t>목차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652AFD-50A8-6543-3D48-051F34D1B3A9}"/>
              </a:ext>
            </a:extLst>
          </p:cNvPr>
          <p:cNvSpPr txBox="1"/>
          <p:nvPr/>
        </p:nvSpPr>
        <p:spPr>
          <a:xfrm>
            <a:off x="762000" y="2006600"/>
            <a:ext cx="8382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500">
                <a:solidFill>
                  <a:srgbClr val="505050"/>
                </a:solidFill>
                <a:latin typeface="Malgun Gothic" panose="020B0503020000020004" pitchFamily="50" charset="-127"/>
              </a:rPr>
              <a:t>7</a:t>
            </a:r>
            <a:r>
              <a:rPr lang="ko-KR" altLang="en-US" sz="1500">
                <a:solidFill>
                  <a:srgbClr val="505050"/>
                </a:solidFill>
                <a:latin typeface="Malgun Gothic" panose="020B0503020000020004" pitchFamily="50" charset="-127"/>
              </a:rPr>
              <a:t>분 동안 기획 의도</a:t>
            </a:r>
            <a:r>
              <a:rPr lang="en-US" altLang="ko-KR" sz="1500">
                <a:solidFill>
                  <a:srgbClr val="505050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500">
                <a:solidFill>
                  <a:srgbClr val="505050"/>
                </a:solidFill>
                <a:latin typeface="Malgun Gothic" panose="020B0503020000020004" pitchFamily="50" charset="-127"/>
              </a:rPr>
              <a:t>핵심 시스템</a:t>
            </a:r>
            <a:r>
              <a:rPr lang="en-US" altLang="ko-KR" sz="1500">
                <a:solidFill>
                  <a:srgbClr val="505050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500">
                <a:solidFill>
                  <a:srgbClr val="505050"/>
                </a:solidFill>
                <a:latin typeface="Malgun Gothic" panose="020B0503020000020004" pitchFamily="50" charset="-127"/>
              </a:rPr>
              <a:t>시연 결과를 순서대로 보겠습니다</a:t>
            </a:r>
            <a:r>
              <a:rPr lang="en-US" altLang="ko-KR" sz="1500">
                <a:solidFill>
                  <a:srgbClr val="505050"/>
                </a:solidFill>
                <a:latin typeface="Malgun Gothic" panose="020B0503020000020004" pitchFamily="50" charset="-127"/>
              </a:rPr>
              <a:t>.</a:t>
            </a:r>
            <a:endParaRPr lang="ko-KR" altLang="en-US" sz="1500">
              <a:solidFill>
                <a:srgbClr val="50505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C94AAB-6471-F2E3-6691-FA55B95385AE}"/>
              </a:ext>
            </a:extLst>
          </p:cNvPr>
          <p:cNvSpPr txBox="1"/>
          <p:nvPr/>
        </p:nvSpPr>
        <p:spPr>
          <a:xfrm>
            <a:off x="1143000" y="3124200"/>
            <a:ext cx="736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2400" b="1">
                <a:solidFill>
                  <a:srgbClr val="000000"/>
                </a:solidFill>
                <a:latin typeface="Malgun Gothic" panose="020B0503020000020004" pitchFamily="50" charset="-127"/>
              </a:rPr>
              <a:t>01</a:t>
            </a:r>
            <a:endParaRPr lang="ko-KR" altLang="en-US" sz="2400" b="1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984A7CA1-AD2D-DFBC-CF29-C6794ED1C8CE}"/>
              </a:ext>
            </a:extLst>
          </p:cNvPr>
          <p:cNvCxnSpPr/>
          <p:nvPr/>
        </p:nvCxnSpPr>
        <p:spPr>
          <a:xfrm>
            <a:off x="2006600" y="3340100"/>
            <a:ext cx="6096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C6611CE-4D80-944A-96DF-DB96869AEAE7}"/>
              </a:ext>
            </a:extLst>
          </p:cNvPr>
          <p:cNvSpPr txBox="1"/>
          <p:nvPr/>
        </p:nvSpPr>
        <p:spPr>
          <a:xfrm>
            <a:off x="2794000" y="3175000"/>
            <a:ext cx="317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>
                <a:solidFill>
                  <a:srgbClr val="232323"/>
                </a:solidFill>
                <a:latin typeface="Malgun Gothic" panose="020B0503020000020004" pitchFamily="50" charset="-127"/>
              </a:rPr>
              <a:t>개발 배경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F4F017-E5EA-B89E-8819-FDB17111CAFA}"/>
              </a:ext>
            </a:extLst>
          </p:cNvPr>
          <p:cNvSpPr txBox="1"/>
          <p:nvPr/>
        </p:nvSpPr>
        <p:spPr>
          <a:xfrm>
            <a:off x="1143000" y="4038600"/>
            <a:ext cx="736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2400" b="1">
                <a:solidFill>
                  <a:srgbClr val="000000"/>
                </a:solidFill>
                <a:latin typeface="Malgun Gothic" panose="020B0503020000020004" pitchFamily="50" charset="-127"/>
              </a:rPr>
              <a:t>02</a:t>
            </a:r>
            <a:endParaRPr lang="ko-KR" altLang="en-US" sz="2400" b="1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C6B74EDB-1FA5-1AA7-AC10-C90ED9024B2F}"/>
              </a:ext>
            </a:extLst>
          </p:cNvPr>
          <p:cNvCxnSpPr/>
          <p:nvPr/>
        </p:nvCxnSpPr>
        <p:spPr>
          <a:xfrm>
            <a:off x="2006600" y="4254500"/>
            <a:ext cx="6096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A7A8FF1-B7E7-F5C4-F60D-48A0D41FF01D}"/>
              </a:ext>
            </a:extLst>
          </p:cNvPr>
          <p:cNvSpPr txBox="1"/>
          <p:nvPr/>
        </p:nvSpPr>
        <p:spPr>
          <a:xfrm>
            <a:off x="2794000" y="4089400"/>
            <a:ext cx="317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>
                <a:solidFill>
                  <a:srgbClr val="232323"/>
                </a:solidFill>
                <a:latin typeface="Malgun Gothic" panose="020B0503020000020004" pitchFamily="50" charset="-127"/>
              </a:rPr>
              <a:t>게임 콘셉트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1FB52A-CB2B-B232-0FFA-7341B75581F1}"/>
              </a:ext>
            </a:extLst>
          </p:cNvPr>
          <p:cNvSpPr txBox="1"/>
          <p:nvPr/>
        </p:nvSpPr>
        <p:spPr>
          <a:xfrm>
            <a:off x="1143000" y="4953000"/>
            <a:ext cx="736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2400" b="1">
                <a:solidFill>
                  <a:srgbClr val="000000"/>
                </a:solidFill>
                <a:latin typeface="Malgun Gothic" panose="020B0503020000020004" pitchFamily="50" charset="-127"/>
              </a:rPr>
              <a:t>03</a:t>
            </a:r>
            <a:endParaRPr lang="ko-KR" altLang="en-US" sz="2400" b="1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7C57E8D9-94C9-347C-563D-35A6E1545D7A}"/>
              </a:ext>
            </a:extLst>
          </p:cNvPr>
          <p:cNvCxnSpPr/>
          <p:nvPr/>
        </p:nvCxnSpPr>
        <p:spPr>
          <a:xfrm>
            <a:off x="2006600" y="5168900"/>
            <a:ext cx="6096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ECFE7AB-2AF2-90FB-8890-BAAC7461A968}"/>
              </a:ext>
            </a:extLst>
          </p:cNvPr>
          <p:cNvSpPr txBox="1"/>
          <p:nvPr/>
        </p:nvSpPr>
        <p:spPr>
          <a:xfrm>
            <a:off x="2794000" y="5003800"/>
            <a:ext cx="317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>
                <a:solidFill>
                  <a:srgbClr val="232323"/>
                </a:solidFill>
                <a:latin typeface="Malgun Gothic" panose="020B0503020000020004" pitchFamily="50" charset="-127"/>
              </a:rPr>
              <a:t>기억 렌즈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7F60809-99D6-2069-775D-229B10A084FD}"/>
              </a:ext>
            </a:extLst>
          </p:cNvPr>
          <p:cNvSpPr txBox="1"/>
          <p:nvPr/>
        </p:nvSpPr>
        <p:spPr>
          <a:xfrm>
            <a:off x="6604000" y="3124200"/>
            <a:ext cx="736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2400" b="1">
                <a:solidFill>
                  <a:srgbClr val="000000"/>
                </a:solidFill>
                <a:latin typeface="Malgun Gothic" panose="020B0503020000020004" pitchFamily="50" charset="-127"/>
              </a:rPr>
              <a:t>04</a:t>
            </a:r>
            <a:endParaRPr lang="ko-KR" altLang="en-US" sz="2400" b="1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7CDDF01D-B2C4-03CE-AC14-B7C33FB157B4}"/>
              </a:ext>
            </a:extLst>
          </p:cNvPr>
          <p:cNvCxnSpPr/>
          <p:nvPr/>
        </p:nvCxnSpPr>
        <p:spPr>
          <a:xfrm>
            <a:off x="7467600" y="3340100"/>
            <a:ext cx="6096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AFEECE5-3166-1888-C36D-9A3EBD428D8E}"/>
              </a:ext>
            </a:extLst>
          </p:cNvPr>
          <p:cNvSpPr txBox="1"/>
          <p:nvPr/>
        </p:nvSpPr>
        <p:spPr>
          <a:xfrm>
            <a:off x="8255000" y="3175000"/>
            <a:ext cx="317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>
                <a:solidFill>
                  <a:srgbClr val="232323"/>
                </a:solidFill>
                <a:latin typeface="Malgun Gothic" panose="020B0503020000020004" pitchFamily="50" charset="-127"/>
              </a:rPr>
              <a:t>주요 시스템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96E3BD-F146-D0E8-54B1-9B252A94E1B9}"/>
              </a:ext>
            </a:extLst>
          </p:cNvPr>
          <p:cNvSpPr txBox="1"/>
          <p:nvPr/>
        </p:nvSpPr>
        <p:spPr>
          <a:xfrm>
            <a:off x="6604000" y="4038600"/>
            <a:ext cx="736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2400" b="1">
                <a:solidFill>
                  <a:srgbClr val="000000"/>
                </a:solidFill>
                <a:latin typeface="Malgun Gothic" panose="020B0503020000020004" pitchFamily="50" charset="-127"/>
              </a:rPr>
              <a:t>05</a:t>
            </a:r>
            <a:endParaRPr lang="ko-KR" altLang="en-US" sz="2400" b="1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FF059AD0-A8AF-1229-63A0-36EB28B5749E}"/>
              </a:ext>
            </a:extLst>
          </p:cNvPr>
          <p:cNvCxnSpPr/>
          <p:nvPr/>
        </p:nvCxnSpPr>
        <p:spPr>
          <a:xfrm>
            <a:off x="7467600" y="4254500"/>
            <a:ext cx="6096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E9BCC60-4355-3BA9-AE98-DA7CCA44AA8A}"/>
              </a:ext>
            </a:extLst>
          </p:cNvPr>
          <p:cNvSpPr txBox="1"/>
          <p:nvPr/>
        </p:nvSpPr>
        <p:spPr>
          <a:xfrm>
            <a:off x="8255000" y="4089400"/>
            <a:ext cx="317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>
                <a:solidFill>
                  <a:srgbClr val="232323"/>
                </a:solidFill>
                <a:latin typeface="Malgun Gothic" panose="020B0503020000020004" pitchFamily="50" charset="-127"/>
              </a:rPr>
              <a:t>시연 영상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F7AA1CE-25D3-6914-2E24-E9F488866634}"/>
              </a:ext>
            </a:extLst>
          </p:cNvPr>
          <p:cNvSpPr txBox="1"/>
          <p:nvPr/>
        </p:nvSpPr>
        <p:spPr>
          <a:xfrm>
            <a:off x="6604000" y="4953000"/>
            <a:ext cx="736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2400" b="1">
                <a:solidFill>
                  <a:srgbClr val="000000"/>
                </a:solidFill>
                <a:latin typeface="Malgun Gothic" panose="020B0503020000020004" pitchFamily="50" charset="-127"/>
              </a:rPr>
              <a:t>06</a:t>
            </a:r>
            <a:endParaRPr lang="ko-KR" altLang="en-US" sz="2400" b="1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1ED36E66-EAD8-85EB-BD1C-154F3F84C202}"/>
              </a:ext>
            </a:extLst>
          </p:cNvPr>
          <p:cNvCxnSpPr/>
          <p:nvPr/>
        </p:nvCxnSpPr>
        <p:spPr>
          <a:xfrm>
            <a:off x="7467600" y="5168900"/>
            <a:ext cx="6096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C644724-0344-B842-5DC8-0D842FBE4961}"/>
              </a:ext>
            </a:extLst>
          </p:cNvPr>
          <p:cNvSpPr txBox="1"/>
          <p:nvPr/>
        </p:nvSpPr>
        <p:spPr>
          <a:xfrm>
            <a:off x="8255000" y="5003800"/>
            <a:ext cx="317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>
                <a:solidFill>
                  <a:srgbClr val="232323"/>
                </a:solidFill>
                <a:latin typeface="Malgun Gothic" panose="020B0503020000020004" pitchFamily="50" charset="-127"/>
              </a:rPr>
              <a:t>결과 및 개선 방향</a:t>
            </a:r>
          </a:p>
        </p:txBody>
      </p:sp>
    </p:spTree>
    <p:extLst>
      <p:ext uri="{BB962C8B-B14F-4D97-AF65-F5344CB8AC3E}">
        <p14:creationId xmlns:p14="http://schemas.microsoft.com/office/powerpoint/2010/main" val="17041542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D0267BC-841E-8AEF-5B4D-449651581389}"/>
              </a:ext>
            </a:extLst>
          </p:cNvPr>
          <p:cNvSpPr txBox="1"/>
          <p:nvPr/>
        </p:nvSpPr>
        <p:spPr>
          <a:xfrm>
            <a:off x="762000" y="431800"/>
            <a:ext cx="11430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3400" b="1">
                <a:solidFill>
                  <a:srgbClr val="000000"/>
                </a:solidFill>
                <a:latin typeface="Malgun Gothic" panose="020B0503020000020004" pitchFamily="50" charset="-127"/>
              </a:rPr>
              <a:t>03</a:t>
            </a:r>
            <a:endParaRPr lang="ko-KR" altLang="en-US" sz="3400" b="1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2094C2-94EA-FA26-6824-DF2CE58E17CF}"/>
              </a:ext>
            </a:extLst>
          </p:cNvPr>
          <p:cNvSpPr txBox="1"/>
          <p:nvPr/>
        </p:nvSpPr>
        <p:spPr>
          <a:xfrm>
            <a:off x="2159000" y="533400"/>
            <a:ext cx="66040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00">
                <a:solidFill>
                  <a:srgbClr val="787878"/>
                </a:solidFill>
                <a:latin typeface="Malgun Gothic" panose="020B0503020000020004" pitchFamily="50" charset="-127"/>
              </a:rPr>
              <a:t>WHY THIS PROJECT</a:t>
            </a:r>
            <a:endParaRPr lang="ko-KR" altLang="en-US" sz="800">
              <a:solidFill>
                <a:srgbClr val="787878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2FB6A32D-1277-38E0-D0B9-9F0134460609}"/>
              </a:ext>
            </a:extLst>
          </p:cNvPr>
          <p:cNvCxnSpPr/>
          <p:nvPr/>
        </p:nvCxnSpPr>
        <p:spPr>
          <a:xfrm>
            <a:off x="2159000" y="850900"/>
            <a:ext cx="9271000" cy="0"/>
          </a:xfrm>
          <a:prstGeom prst="line">
            <a:avLst/>
          </a:prstGeom>
          <a:ln w="9525">
            <a:solidFill>
              <a:srgbClr val="D2D2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9B1D94C-C895-1D2D-B80F-39225271B3C4}"/>
              </a:ext>
            </a:extLst>
          </p:cNvPr>
          <p:cNvSpPr txBox="1"/>
          <p:nvPr/>
        </p:nvSpPr>
        <p:spPr>
          <a:xfrm>
            <a:off x="762000" y="1168400"/>
            <a:ext cx="68580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3200" b="1">
                <a:solidFill>
                  <a:srgbClr val="121212"/>
                </a:solidFill>
                <a:latin typeface="Malgun Gothic" panose="020B0503020000020004" pitchFamily="50" charset="-127"/>
              </a:rPr>
              <a:t>개발 배경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3FA0DB-C5C8-EF98-ED50-8CD8A50695E0}"/>
              </a:ext>
            </a:extLst>
          </p:cNvPr>
          <p:cNvSpPr txBox="1"/>
          <p:nvPr/>
        </p:nvSpPr>
        <p:spPr>
          <a:xfrm>
            <a:off x="762000" y="1930400"/>
            <a:ext cx="86360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700">
                <a:solidFill>
                  <a:srgbClr val="464646"/>
                </a:solidFill>
                <a:latin typeface="Malgun Gothic" panose="020B0503020000020004" pitchFamily="50" charset="-127"/>
              </a:rPr>
              <a:t>고통스러운 기억을 지우면 사람은 정말 행복해지는가</a:t>
            </a:r>
            <a:r>
              <a:rPr lang="en-US" altLang="ko-KR" sz="1700">
                <a:solidFill>
                  <a:srgbClr val="464646"/>
                </a:solidFill>
                <a:latin typeface="Malgun Gothic" panose="020B0503020000020004" pitchFamily="50" charset="-127"/>
              </a:rPr>
              <a:t>?</a:t>
            </a:r>
            <a:endParaRPr lang="ko-KR" altLang="en-US" sz="1700">
              <a:solidFill>
                <a:srgbClr val="464646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FCDEEB46-37D0-9038-2964-B5BF38AB025A}"/>
              </a:ext>
            </a:extLst>
          </p:cNvPr>
          <p:cNvCxnSpPr/>
          <p:nvPr/>
        </p:nvCxnSpPr>
        <p:spPr>
          <a:xfrm>
            <a:off x="762000" y="2819400"/>
            <a:ext cx="106680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1B1EA97-7800-75B6-0F99-9485D4450EDF}"/>
              </a:ext>
            </a:extLst>
          </p:cNvPr>
          <p:cNvSpPr txBox="1"/>
          <p:nvPr/>
        </p:nvSpPr>
        <p:spPr>
          <a:xfrm>
            <a:off x="1117600" y="3276600"/>
            <a:ext cx="9144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2800" b="1">
                <a:solidFill>
                  <a:srgbClr val="000000"/>
                </a:solidFill>
                <a:latin typeface="Malgun Gothic" panose="020B0503020000020004" pitchFamily="50" charset="-127"/>
              </a:rPr>
              <a:t>고통스러운 기억을 지우면 사람은 정말 행복해지는가</a:t>
            </a:r>
            <a:r>
              <a:rPr lang="en-US" altLang="ko-KR" sz="2800" b="1">
                <a:solidFill>
                  <a:srgbClr val="000000"/>
                </a:solidFill>
                <a:latin typeface="Malgun Gothic" panose="020B0503020000020004" pitchFamily="50" charset="-127"/>
              </a:rPr>
              <a:t>?</a:t>
            </a:r>
            <a:endParaRPr lang="ko-KR" altLang="en-US" sz="2800" b="1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759E02-BDD3-549A-2432-19A356B8E2F9}"/>
              </a:ext>
            </a:extLst>
          </p:cNvPr>
          <p:cNvSpPr txBox="1"/>
          <p:nvPr/>
        </p:nvSpPr>
        <p:spPr>
          <a:xfrm>
            <a:off x="1524000" y="4394200"/>
            <a:ext cx="8890000" cy="111569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500"/>
              </a:spcAft>
            </a:pPr>
            <a:r>
              <a:rPr lang="en-US" altLang="ko-KR" sz="1500">
                <a:solidFill>
                  <a:srgbClr val="2D2D2D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1500">
                <a:solidFill>
                  <a:srgbClr val="2D2D2D"/>
                </a:solidFill>
                <a:latin typeface="Malgun Gothic" panose="020B0503020000020004" pitchFamily="50" charset="-127"/>
              </a:rPr>
              <a:t>제안서의 핵심 질문을 게임의 주제로 유지했습니다</a:t>
            </a:r>
            <a:r>
              <a:rPr lang="en-US" altLang="ko-KR" sz="1500">
                <a:solidFill>
                  <a:srgbClr val="2D2D2D"/>
                </a:solidFill>
                <a:latin typeface="Malgun Gothic" panose="020B0503020000020004" pitchFamily="50" charset="-127"/>
              </a:rPr>
              <a:t>.</a:t>
            </a:r>
          </a:p>
          <a:p>
            <a:pPr>
              <a:spcAft>
                <a:spcPts val="500"/>
              </a:spcAft>
            </a:pPr>
            <a:r>
              <a:rPr lang="en-US" altLang="ko-KR" sz="1500">
                <a:solidFill>
                  <a:srgbClr val="2D2D2D"/>
                </a:solidFill>
                <a:latin typeface="Malgun Gothic" panose="020B0503020000020004" pitchFamily="50" charset="-127"/>
              </a:rPr>
              <a:t>· UI</a:t>
            </a:r>
            <a:r>
              <a:rPr lang="ko-KR" altLang="en-US" sz="1500">
                <a:solidFill>
                  <a:srgbClr val="2D2D2D"/>
                </a:solidFill>
                <a:latin typeface="Malgun Gothic" panose="020B0503020000020004" pitchFamily="50" charset="-127"/>
              </a:rPr>
              <a:t>를 단순 정보창이 아니라 플레이 도구로 바꾸고자 했습니다</a:t>
            </a:r>
            <a:r>
              <a:rPr lang="en-US" altLang="ko-KR" sz="1500">
                <a:solidFill>
                  <a:srgbClr val="2D2D2D"/>
                </a:solidFill>
                <a:latin typeface="Malgun Gothic" panose="020B0503020000020004" pitchFamily="50" charset="-127"/>
              </a:rPr>
              <a:t>.</a:t>
            </a:r>
          </a:p>
          <a:p>
            <a:pPr>
              <a:spcAft>
                <a:spcPts val="500"/>
              </a:spcAft>
            </a:pPr>
            <a:r>
              <a:rPr lang="en-US" altLang="ko-KR" sz="1500">
                <a:solidFill>
                  <a:srgbClr val="2D2D2D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1500">
                <a:solidFill>
                  <a:srgbClr val="2D2D2D"/>
                </a:solidFill>
                <a:latin typeface="Malgun Gothic" panose="020B0503020000020004" pitchFamily="50" charset="-127"/>
              </a:rPr>
              <a:t>기억을 처리하는 선택이 엔딩에서 다시 해석되도록 설계했습니다</a:t>
            </a:r>
            <a:r>
              <a:rPr lang="en-US" altLang="ko-KR" sz="1500">
                <a:solidFill>
                  <a:srgbClr val="2D2D2D"/>
                </a:solidFill>
                <a:latin typeface="Malgun Gothic" panose="020B0503020000020004" pitchFamily="50" charset="-127"/>
              </a:rPr>
              <a:t>.</a:t>
            </a:r>
          </a:p>
          <a:p>
            <a:pPr>
              <a:spcAft>
                <a:spcPts val="500"/>
              </a:spcAft>
            </a:pPr>
            <a:endParaRPr lang="ko-KR" altLang="en-US" sz="1500">
              <a:solidFill>
                <a:srgbClr val="2D2D2D"/>
              </a:solidFill>
              <a:latin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09290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F9B5DE-F59B-C3C9-2B06-9D5DF704B8DC}"/>
              </a:ext>
            </a:extLst>
          </p:cNvPr>
          <p:cNvSpPr txBox="1"/>
          <p:nvPr/>
        </p:nvSpPr>
        <p:spPr>
          <a:xfrm>
            <a:off x="762000" y="431800"/>
            <a:ext cx="11430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3400" b="1">
                <a:solidFill>
                  <a:srgbClr val="000000"/>
                </a:solidFill>
                <a:latin typeface="Malgun Gothic" panose="020B0503020000020004" pitchFamily="50" charset="-127"/>
              </a:rPr>
              <a:t>04</a:t>
            </a:r>
            <a:endParaRPr lang="ko-KR" altLang="en-US" sz="3400" b="1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0E8BF9-6B5A-231F-3D67-74D462143B1E}"/>
              </a:ext>
            </a:extLst>
          </p:cNvPr>
          <p:cNvSpPr txBox="1"/>
          <p:nvPr/>
        </p:nvSpPr>
        <p:spPr>
          <a:xfrm>
            <a:off x="2159000" y="533400"/>
            <a:ext cx="66040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00">
                <a:solidFill>
                  <a:srgbClr val="787878"/>
                </a:solidFill>
                <a:latin typeface="Malgun Gothic" panose="020B0503020000020004" pitchFamily="50" charset="-127"/>
              </a:rPr>
              <a:t>GAME CONCEPT</a:t>
            </a:r>
            <a:endParaRPr lang="ko-KR" altLang="en-US" sz="800">
              <a:solidFill>
                <a:srgbClr val="787878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DB396B2-A153-B37B-75EF-EE81EE086DA7}"/>
              </a:ext>
            </a:extLst>
          </p:cNvPr>
          <p:cNvCxnSpPr/>
          <p:nvPr/>
        </p:nvCxnSpPr>
        <p:spPr>
          <a:xfrm>
            <a:off x="2159000" y="850900"/>
            <a:ext cx="9271000" cy="0"/>
          </a:xfrm>
          <a:prstGeom prst="line">
            <a:avLst/>
          </a:prstGeom>
          <a:ln w="9525">
            <a:solidFill>
              <a:srgbClr val="D2D2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EEADA0D-7946-F7EA-96CB-C8D4ED9BDF4B}"/>
              </a:ext>
            </a:extLst>
          </p:cNvPr>
          <p:cNvSpPr txBox="1"/>
          <p:nvPr/>
        </p:nvSpPr>
        <p:spPr>
          <a:xfrm>
            <a:off x="762000" y="1168400"/>
            <a:ext cx="68580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3200" b="1">
                <a:solidFill>
                  <a:srgbClr val="121212"/>
                </a:solidFill>
                <a:latin typeface="Malgun Gothic" panose="020B0503020000020004" pitchFamily="50" charset="-127"/>
              </a:rPr>
              <a:t>게임 콘셉트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890AB8-367B-335E-68EB-983DA01E93F8}"/>
              </a:ext>
            </a:extLst>
          </p:cNvPr>
          <p:cNvSpPr txBox="1"/>
          <p:nvPr/>
        </p:nvSpPr>
        <p:spPr>
          <a:xfrm>
            <a:off x="762000" y="1930400"/>
            <a:ext cx="86360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700">
                <a:solidFill>
                  <a:srgbClr val="464646"/>
                </a:solidFill>
                <a:latin typeface="Malgun Gothic" panose="020B0503020000020004" pitchFamily="50" charset="-127"/>
              </a:rPr>
              <a:t>폐도시를 탐험하며 기억 파편을 수집하고 복원하는 </a:t>
            </a:r>
            <a:r>
              <a:rPr lang="en-US" altLang="ko-KR" sz="1700">
                <a:solidFill>
                  <a:srgbClr val="464646"/>
                </a:solidFill>
                <a:latin typeface="Malgun Gothic" panose="020B0503020000020004" pitchFamily="50" charset="-127"/>
              </a:rPr>
              <a:t>3D </a:t>
            </a:r>
            <a:r>
              <a:rPr lang="ko-KR" altLang="en-US" sz="1700">
                <a:solidFill>
                  <a:srgbClr val="464646"/>
                </a:solidFill>
                <a:latin typeface="Malgun Gothic" panose="020B0503020000020004" pitchFamily="50" charset="-127"/>
              </a:rPr>
              <a:t>서사형 탐험 프로토타입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A6CB064-72DF-3ECA-073D-B5F1F9CD060E}"/>
              </a:ext>
            </a:extLst>
          </p:cNvPr>
          <p:cNvSpPr/>
          <p:nvPr/>
        </p:nvSpPr>
        <p:spPr>
          <a:xfrm>
            <a:off x="7239000" y="1498600"/>
            <a:ext cx="4191000" cy="3429000"/>
          </a:xfrm>
          <a:prstGeom prst="rect">
            <a:avLst/>
          </a:prstGeom>
          <a:solidFill>
            <a:srgbClr val="F7F7F7"/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>
                <a:solidFill>
                  <a:srgbClr val="5A5A5A"/>
                </a:solidFill>
                <a:latin typeface="Malgun Gothic" panose="020B0503020000020004" pitchFamily="50" charset="-127"/>
              </a:rPr>
              <a:t>[</a:t>
            </a:r>
            <a:r>
              <a:rPr lang="ko-KR" altLang="en-US" sz="1600">
                <a:solidFill>
                  <a:srgbClr val="5A5A5A"/>
                </a:solidFill>
                <a:latin typeface="Malgun Gothic" panose="020B0503020000020004" pitchFamily="50" charset="-127"/>
              </a:rPr>
              <a:t>스크린샷 삽입 예정</a:t>
            </a:r>
            <a:r>
              <a:rPr lang="en-US" altLang="ko-KR" sz="1600">
                <a:solidFill>
                  <a:srgbClr val="5A5A5A"/>
                </a:solidFill>
                <a:latin typeface="Malgun Gothic" panose="020B0503020000020004" pitchFamily="50" charset="-127"/>
              </a:rPr>
              <a:t>: </a:t>
            </a:r>
            <a:r>
              <a:rPr lang="ko-KR" altLang="en-US" sz="1600">
                <a:solidFill>
                  <a:srgbClr val="5A5A5A"/>
                </a:solidFill>
                <a:latin typeface="Malgun Gothic" panose="020B0503020000020004" pitchFamily="50" charset="-127"/>
              </a:rPr>
              <a:t>폐도시 전경과 플레이어</a:t>
            </a:r>
            <a:r>
              <a:rPr lang="en-US" altLang="ko-KR" sz="1600">
                <a:solidFill>
                  <a:srgbClr val="5A5A5A"/>
                </a:solidFill>
                <a:latin typeface="Malgun Gothic" panose="020B0503020000020004" pitchFamily="50" charset="-127"/>
              </a:rPr>
              <a:t>]</a:t>
            </a:r>
            <a:endParaRPr lang="ko-KR" altLang="en-US" sz="1600">
              <a:solidFill>
                <a:srgbClr val="5A5A5A"/>
              </a:solidFill>
              <a:latin typeface="Malgun Gothic" panose="020B050302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ABB5F42-57F6-1528-AF3E-5D0CAE9FD0CB}"/>
              </a:ext>
            </a:extLst>
          </p:cNvPr>
          <p:cNvSpPr txBox="1"/>
          <p:nvPr/>
        </p:nvSpPr>
        <p:spPr>
          <a:xfrm>
            <a:off x="762000" y="3149600"/>
            <a:ext cx="5588000" cy="111569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500"/>
              </a:spcAft>
            </a:pPr>
            <a:r>
              <a:rPr lang="en-US" altLang="ko-KR" sz="1500">
                <a:solidFill>
                  <a:srgbClr val="2D2D2D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1500">
                <a:solidFill>
                  <a:srgbClr val="2D2D2D"/>
                </a:solidFill>
                <a:latin typeface="Malgun Gothic" panose="020B0503020000020004" pitchFamily="50" charset="-127"/>
              </a:rPr>
              <a:t>플레이어는 기억 수거원으로 폐도시를 탐험합니다</a:t>
            </a:r>
            <a:r>
              <a:rPr lang="en-US" altLang="ko-KR" sz="1500">
                <a:solidFill>
                  <a:srgbClr val="2D2D2D"/>
                </a:solidFill>
                <a:latin typeface="Malgun Gothic" panose="020B0503020000020004" pitchFamily="50" charset="-127"/>
              </a:rPr>
              <a:t>.</a:t>
            </a:r>
          </a:p>
          <a:p>
            <a:pPr>
              <a:spcAft>
                <a:spcPts val="500"/>
              </a:spcAft>
            </a:pPr>
            <a:r>
              <a:rPr lang="en-US" altLang="ko-KR" sz="1500">
                <a:solidFill>
                  <a:srgbClr val="2D2D2D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1500">
                <a:solidFill>
                  <a:srgbClr val="2D2D2D"/>
                </a:solidFill>
                <a:latin typeface="Malgun Gothic" panose="020B0503020000020004" pitchFamily="50" charset="-127"/>
              </a:rPr>
              <a:t>푸른 기억 구체를 회수하고 기억 카드에서 복원합니다</a:t>
            </a:r>
            <a:r>
              <a:rPr lang="en-US" altLang="ko-KR" sz="1500">
                <a:solidFill>
                  <a:srgbClr val="2D2D2D"/>
                </a:solidFill>
                <a:latin typeface="Malgun Gothic" panose="020B0503020000020004" pitchFamily="50" charset="-127"/>
              </a:rPr>
              <a:t>.</a:t>
            </a:r>
          </a:p>
          <a:p>
            <a:pPr>
              <a:spcAft>
                <a:spcPts val="500"/>
              </a:spcAft>
            </a:pPr>
            <a:r>
              <a:rPr lang="en-US" altLang="ko-KR" sz="1500">
                <a:solidFill>
                  <a:srgbClr val="2D2D2D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1500">
                <a:solidFill>
                  <a:srgbClr val="2D2D2D"/>
                </a:solidFill>
                <a:latin typeface="Malgun Gothic" panose="020B0503020000020004" pitchFamily="50" charset="-127"/>
              </a:rPr>
              <a:t>중앙 아카이브는 최종 선택과 행동 기록을 정리합니다</a:t>
            </a:r>
            <a:r>
              <a:rPr lang="en-US" altLang="ko-KR" sz="1500">
                <a:solidFill>
                  <a:srgbClr val="2D2D2D"/>
                </a:solidFill>
                <a:latin typeface="Malgun Gothic" panose="020B0503020000020004" pitchFamily="50" charset="-127"/>
              </a:rPr>
              <a:t>.</a:t>
            </a:r>
          </a:p>
          <a:p>
            <a:pPr>
              <a:spcAft>
                <a:spcPts val="500"/>
              </a:spcAft>
            </a:pPr>
            <a:endParaRPr lang="ko-KR" altLang="en-US" sz="1500">
              <a:solidFill>
                <a:srgbClr val="2D2D2D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FF6D8FEC-C53A-0E65-7F20-087E513A9A7F}"/>
              </a:ext>
            </a:extLst>
          </p:cNvPr>
          <p:cNvCxnSpPr/>
          <p:nvPr/>
        </p:nvCxnSpPr>
        <p:spPr>
          <a:xfrm>
            <a:off x="7239000" y="5207000"/>
            <a:ext cx="41910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74C4A19-81A1-69E5-DB6E-14E66D6A183D}"/>
              </a:ext>
            </a:extLst>
          </p:cNvPr>
          <p:cNvSpPr txBox="1"/>
          <p:nvPr/>
        </p:nvSpPr>
        <p:spPr>
          <a:xfrm>
            <a:off x="7239000" y="5410200"/>
            <a:ext cx="381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000">
                <a:solidFill>
                  <a:srgbClr val="787878"/>
                </a:solidFill>
                <a:latin typeface="Malgun Gothic" panose="020B0503020000020004" pitchFamily="50" charset="-127"/>
              </a:rPr>
              <a:t>SCREENSHOT AREA</a:t>
            </a:r>
            <a:endParaRPr lang="ko-KR" altLang="en-US" sz="1000">
              <a:solidFill>
                <a:srgbClr val="787878"/>
              </a:solidFill>
              <a:latin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61089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9723C3-FFC1-B191-8921-37AC1588DEF1}"/>
              </a:ext>
            </a:extLst>
          </p:cNvPr>
          <p:cNvSpPr txBox="1"/>
          <p:nvPr/>
        </p:nvSpPr>
        <p:spPr>
          <a:xfrm>
            <a:off x="762000" y="431800"/>
            <a:ext cx="11430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3400" b="1">
                <a:solidFill>
                  <a:srgbClr val="000000"/>
                </a:solidFill>
                <a:latin typeface="Malgun Gothic" panose="020B0503020000020004" pitchFamily="50" charset="-127"/>
              </a:rPr>
              <a:t>05</a:t>
            </a:r>
            <a:endParaRPr lang="ko-KR" altLang="en-US" sz="3400" b="1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5E7FE0-1B83-9602-FF28-811689E86041}"/>
              </a:ext>
            </a:extLst>
          </p:cNvPr>
          <p:cNvSpPr txBox="1"/>
          <p:nvPr/>
        </p:nvSpPr>
        <p:spPr>
          <a:xfrm>
            <a:off x="2159000" y="533400"/>
            <a:ext cx="66040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00">
                <a:solidFill>
                  <a:srgbClr val="787878"/>
                </a:solidFill>
                <a:latin typeface="Malgun Gothic" panose="020B0503020000020004" pitchFamily="50" charset="-127"/>
              </a:rPr>
              <a:t>MEMORY LENS</a:t>
            </a:r>
            <a:endParaRPr lang="ko-KR" altLang="en-US" sz="800">
              <a:solidFill>
                <a:srgbClr val="787878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18B96EDA-9449-CACD-2E91-E1474BEB1FAB}"/>
              </a:ext>
            </a:extLst>
          </p:cNvPr>
          <p:cNvCxnSpPr/>
          <p:nvPr/>
        </p:nvCxnSpPr>
        <p:spPr>
          <a:xfrm>
            <a:off x="2159000" y="850900"/>
            <a:ext cx="9271000" cy="0"/>
          </a:xfrm>
          <a:prstGeom prst="line">
            <a:avLst/>
          </a:prstGeom>
          <a:ln w="9525">
            <a:solidFill>
              <a:srgbClr val="D2D2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622B88F-401C-B647-D260-F30A27564DD5}"/>
              </a:ext>
            </a:extLst>
          </p:cNvPr>
          <p:cNvSpPr txBox="1"/>
          <p:nvPr/>
        </p:nvSpPr>
        <p:spPr>
          <a:xfrm>
            <a:off x="762000" y="1371600"/>
            <a:ext cx="4572000" cy="135421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4400" b="1">
                <a:solidFill>
                  <a:srgbClr val="000000"/>
                </a:solidFill>
                <a:latin typeface="Malgun Gothic" panose="020B0503020000020004" pitchFamily="50" charset="-127"/>
              </a:rPr>
              <a:t>Memory</a:t>
            </a:r>
          </a:p>
          <a:p>
            <a:r>
              <a:rPr lang="en-US" altLang="ko-KR" sz="4400" b="1">
                <a:solidFill>
                  <a:srgbClr val="000000"/>
                </a:solidFill>
                <a:latin typeface="Malgun Gothic" panose="020B0503020000020004" pitchFamily="50" charset="-127"/>
              </a:rPr>
              <a:t>Lens</a:t>
            </a:r>
            <a:endParaRPr lang="ko-KR" altLang="en-US" sz="4400" b="1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C3E770-5E91-2A1C-CCC3-D06EBEF83DA2}"/>
              </a:ext>
            </a:extLst>
          </p:cNvPr>
          <p:cNvSpPr txBox="1"/>
          <p:nvPr/>
        </p:nvSpPr>
        <p:spPr>
          <a:xfrm>
            <a:off x="762000" y="2743200"/>
            <a:ext cx="533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>
                <a:solidFill>
                  <a:srgbClr val="3C3C3C"/>
                </a:solidFill>
                <a:latin typeface="Malgun Gothic" panose="020B0503020000020004" pitchFamily="50" charset="-127"/>
              </a:rPr>
              <a:t>Tab</a:t>
            </a:r>
            <a:r>
              <a:rPr lang="ko-KR" altLang="en-US">
                <a:solidFill>
                  <a:srgbClr val="3C3C3C"/>
                </a:solidFill>
                <a:latin typeface="Malgun Gothic" panose="020B0503020000020004" pitchFamily="50" charset="-127"/>
              </a:rPr>
              <a:t>은 메뉴가 아니라</a:t>
            </a:r>
            <a:r>
              <a:rPr lang="en-US" altLang="ko-KR">
                <a:solidFill>
                  <a:srgbClr val="3C3C3C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>
                <a:solidFill>
                  <a:srgbClr val="3C3C3C"/>
                </a:solidFill>
                <a:latin typeface="Malgun Gothic" panose="020B0503020000020004" pitchFamily="50" charset="-127"/>
              </a:rPr>
              <a:t>세계 위에 겹치는 렌즈입니다</a:t>
            </a:r>
            <a:r>
              <a:rPr lang="en-US" altLang="ko-KR">
                <a:solidFill>
                  <a:srgbClr val="3C3C3C"/>
                </a:solidFill>
                <a:latin typeface="Malgun Gothic" panose="020B0503020000020004" pitchFamily="50" charset="-127"/>
              </a:rPr>
              <a:t>.</a:t>
            </a:r>
            <a:endParaRPr lang="ko-KR" altLang="en-US">
              <a:solidFill>
                <a:srgbClr val="3C3C3C"/>
              </a:solidFill>
              <a:latin typeface="Malgun Gothic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70C59D-3D7F-6B4C-B3DC-993AF5CA6ACB}"/>
              </a:ext>
            </a:extLst>
          </p:cNvPr>
          <p:cNvSpPr txBox="1"/>
          <p:nvPr/>
        </p:nvSpPr>
        <p:spPr>
          <a:xfrm>
            <a:off x="762000" y="3860800"/>
            <a:ext cx="5334000" cy="111569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500"/>
              </a:spcAft>
            </a:pPr>
            <a:r>
              <a:rPr lang="en-US" altLang="ko-KR" sz="1500">
                <a:solidFill>
                  <a:srgbClr val="2D2D2D"/>
                </a:solidFill>
                <a:latin typeface="Malgun Gothic" panose="020B0503020000020004" pitchFamily="50" charset="-127"/>
              </a:rPr>
              <a:t>· World Space </a:t>
            </a:r>
            <a:r>
              <a:rPr lang="ko-KR" altLang="en-US" sz="1500">
                <a:solidFill>
                  <a:srgbClr val="2D2D2D"/>
                </a:solidFill>
                <a:latin typeface="Malgun Gothic" panose="020B0503020000020004" pitchFamily="50" charset="-127"/>
              </a:rPr>
              <a:t>기억 </a:t>
            </a:r>
            <a:r>
              <a:rPr lang="en-US" altLang="ko-KR" sz="1500">
                <a:solidFill>
                  <a:srgbClr val="2D2D2D"/>
                </a:solidFill>
                <a:latin typeface="Malgun Gothic" panose="020B0503020000020004" pitchFamily="50" charset="-127"/>
              </a:rPr>
              <a:t>UI</a:t>
            </a:r>
            <a:r>
              <a:rPr lang="ko-KR" altLang="en-US" sz="1500">
                <a:solidFill>
                  <a:srgbClr val="2D2D2D"/>
                </a:solidFill>
                <a:latin typeface="Malgun Gothic" panose="020B0503020000020004" pitchFamily="50" charset="-127"/>
              </a:rPr>
              <a:t>가 기억 근처에 떠 있습니다</a:t>
            </a:r>
            <a:r>
              <a:rPr lang="en-US" altLang="ko-KR" sz="1500">
                <a:solidFill>
                  <a:srgbClr val="2D2D2D"/>
                </a:solidFill>
                <a:latin typeface="Malgun Gothic" panose="020B0503020000020004" pitchFamily="50" charset="-127"/>
              </a:rPr>
              <a:t>.</a:t>
            </a:r>
          </a:p>
          <a:p>
            <a:pPr>
              <a:spcAft>
                <a:spcPts val="500"/>
              </a:spcAft>
            </a:pPr>
            <a:r>
              <a:rPr lang="en-US" altLang="ko-KR" sz="1500">
                <a:solidFill>
                  <a:srgbClr val="2D2D2D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1500">
                <a:solidFill>
                  <a:srgbClr val="2D2D2D"/>
                </a:solidFill>
                <a:latin typeface="Malgun Gothic" panose="020B0503020000020004" pitchFamily="50" charset="-127"/>
              </a:rPr>
              <a:t>렌즈 프레임과 도시 구조물을 겹쳐 단서를 읽습니다</a:t>
            </a:r>
            <a:r>
              <a:rPr lang="en-US" altLang="ko-KR" sz="1500">
                <a:solidFill>
                  <a:srgbClr val="2D2D2D"/>
                </a:solidFill>
                <a:latin typeface="Malgun Gothic" panose="020B0503020000020004" pitchFamily="50" charset="-127"/>
              </a:rPr>
              <a:t>.</a:t>
            </a:r>
          </a:p>
          <a:p>
            <a:pPr>
              <a:spcAft>
                <a:spcPts val="500"/>
              </a:spcAft>
            </a:pPr>
            <a:r>
              <a:rPr lang="en-US" altLang="ko-KR" sz="1500">
                <a:solidFill>
                  <a:srgbClr val="2D2D2D"/>
                </a:solidFill>
                <a:latin typeface="Malgun Gothic" panose="020B0503020000020004" pitchFamily="50" charset="-127"/>
              </a:rPr>
              <a:t>· UI</a:t>
            </a:r>
            <a:r>
              <a:rPr lang="ko-KR" altLang="en-US" sz="1500">
                <a:solidFill>
                  <a:srgbClr val="2D2D2D"/>
                </a:solidFill>
                <a:latin typeface="Malgun Gothic" panose="020B0503020000020004" pitchFamily="50" charset="-127"/>
              </a:rPr>
              <a:t>와 </a:t>
            </a:r>
            <a:r>
              <a:rPr lang="en-US" altLang="ko-KR" sz="1500">
                <a:solidFill>
                  <a:srgbClr val="2D2D2D"/>
                </a:solidFill>
                <a:latin typeface="Malgun Gothic" panose="020B0503020000020004" pitchFamily="50" charset="-127"/>
              </a:rPr>
              <a:t>3D </a:t>
            </a:r>
            <a:r>
              <a:rPr lang="ko-KR" altLang="en-US" sz="1500">
                <a:solidFill>
                  <a:srgbClr val="2D2D2D"/>
                </a:solidFill>
                <a:latin typeface="Malgun Gothic" panose="020B0503020000020004" pitchFamily="50" charset="-127"/>
              </a:rPr>
              <a:t>공간의 겹침이 퍼즐 풀이가 됩니다</a:t>
            </a:r>
            <a:r>
              <a:rPr lang="en-US" altLang="ko-KR" sz="1500">
                <a:solidFill>
                  <a:srgbClr val="2D2D2D"/>
                </a:solidFill>
                <a:latin typeface="Malgun Gothic" panose="020B0503020000020004" pitchFamily="50" charset="-127"/>
              </a:rPr>
              <a:t>.</a:t>
            </a:r>
          </a:p>
          <a:p>
            <a:pPr>
              <a:spcAft>
                <a:spcPts val="500"/>
              </a:spcAft>
            </a:pPr>
            <a:endParaRPr lang="ko-KR" altLang="en-US" sz="1500">
              <a:solidFill>
                <a:srgbClr val="2D2D2D"/>
              </a:solidFill>
              <a:latin typeface="Malgun Gothic" panose="020B0503020000020004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EA79062-BBFF-DA6C-F821-BB66D8D7D028}"/>
              </a:ext>
            </a:extLst>
          </p:cNvPr>
          <p:cNvSpPr/>
          <p:nvPr/>
        </p:nvSpPr>
        <p:spPr>
          <a:xfrm>
            <a:off x="6604000" y="1397000"/>
            <a:ext cx="4826000" cy="3683000"/>
          </a:xfrm>
          <a:prstGeom prst="rect">
            <a:avLst/>
          </a:prstGeom>
          <a:solidFill>
            <a:srgbClr val="F7F7F7"/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>
                <a:solidFill>
                  <a:srgbClr val="5A5A5A"/>
                </a:solidFill>
                <a:latin typeface="Malgun Gothic" panose="020B0503020000020004" pitchFamily="50" charset="-127"/>
              </a:rPr>
              <a:t>[</a:t>
            </a:r>
            <a:r>
              <a:rPr lang="ko-KR" altLang="en-US" sz="1600">
                <a:solidFill>
                  <a:srgbClr val="5A5A5A"/>
                </a:solidFill>
                <a:latin typeface="Malgun Gothic" panose="020B0503020000020004" pitchFamily="50" charset="-127"/>
              </a:rPr>
              <a:t>스크린샷 삽입 예정</a:t>
            </a:r>
            <a:r>
              <a:rPr lang="en-US" altLang="ko-KR" sz="1600">
                <a:solidFill>
                  <a:srgbClr val="5A5A5A"/>
                </a:solidFill>
                <a:latin typeface="Malgun Gothic" panose="020B0503020000020004" pitchFamily="50" charset="-127"/>
              </a:rPr>
              <a:t>: Tab </a:t>
            </a:r>
            <a:r>
              <a:rPr lang="ko-KR" altLang="en-US" sz="1600">
                <a:solidFill>
                  <a:srgbClr val="5A5A5A"/>
                </a:solidFill>
                <a:latin typeface="Malgun Gothic" panose="020B0503020000020004" pitchFamily="50" charset="-127"/>
              </a:rPr>
              <a:t>기억 렌즈 </a:t>
            </a:r>
            <a:r>
              <a:rPr lang="en-US" altLang="ko-KR" sz="1600">
                <a:solidFill>
                  <a:srgbClr val="5A5A5A"/>
                </a:solidFill>
                <a:latin typeface="Malgun Gothic" panose="020B0503020000020004" pitchFamily="50" charset="-127"/>
              </a:rPr>
              <a:t>ON/OFF]</a:t>
            </a:r>
            <a:endParaRPr lang="ko-KR" altLang="en-US" sz="1600">
              <a:solidFill>
                <a:srgbClr val="5A5A5A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2709C576-B7FC-9F70-1142-E77E2452A06C}"/>
              </a:ext>
            </a:extLst>
          </p:cNvPr>
          <p:cNvCxnSpPr/>
          <p:nvPr/>
        </p:nvCxnSpPr>
        <p:spPr>
          <a:xfrm>
            <a:off x="6604000" y="5461000"/>
            <a:ext cx="48260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60991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0F6BF07-8E48-DADB-89C3-2F2D3D12C00E}"/>
              </a:ext>
            </a:extLst>
          </p:cNvPr>
          <p:cNvSpPr txBox="1"/>
          <p:nvPr/>
        </p:nvSpPr>
        <p:spPr>
          <a:xfrm>
            <a:off x="762000" y="431800"/>
            <a:ext cx="11430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3400" b="1">
                <a:solidFill>
                  <a:srgbClr val="000000"/>
                </a:solidFill>
                <a:latin typeface="Malgun Gothic" panose="020B0503020000020004" pitchFamily="50" charset="-127"/>
              </a:rPr>
              <a:t>06</a:t>
            </a:r>
            <a:endParaRPr lang="ko-KR" altLang="en-US" sz="3400" b="1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4A79D9-A0D1-0692-5A4B-0BEEB4282EFA}"/>
              </a:ext>
            </a:extLst>
          </p:cNvPr>
          <p:cNvSpPr txBox="1"/>
          <p:nvPr/>
        </p:nvSpPr>
        <p:spPr>
          <a:xfrm>
            <a:off x="2159000" y="533400"/>
            <a:ext cx="66040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00">
                <a:solidFill>
                  <a:srgbClr val="787878"/>
                </a:solidFill>
                <a:latin typeface="Malgun Gothic" panose="020B0503020000020004" pitchFamily="50" charset="-127"/>
              </a:rPr>
              <a:t>PLAY FLOW</a:t>
            </a:r>
            <a:endParaRPr lang="ko-KR" altLang="en-US" sz="800">
              <a:solidFill>
                <a:srgbClr val="787878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AB001CEA-1125-985C-A0FD-CBF598943F3C}"/>
              </a:ext>
            </a:extLst>
          </p:cNvPr>
          <p:cNvCxnSpPr/>
          <p:nvPr/>
        </p:nvCxnSpPr>
        <p:spPr>
          <a:xfrm>
            <a:off x="2159000" y="850900"/>
            <a:ext cx="9271000" cy="0"/>
          </a:xfrm>
          <a:prstGeom prst="line">
            <a:avLst/>
          </a:prstGeom>
          <a:ln w="9525">
            <a:solidFill>
              <a:srgbClr val="D2D2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6281D0C-4E15-5556-A595-8A4E9A3CD4E8}"/>
              </a:ext>
            </a:extLst>
          </p:cNvPr>
          <p:cNvSpPr txBox="1"/>
          <p:nvPr/>
        </p:nvSpPr>
        <p:spPr>
          <a:xfrm>
            <a:off x="762000" y="1168400"/>
            <a:ext cx="68580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3200" b="1">
                <a:solidFill>
                  <a:srgbClr val="121212"/>
                </a:solidFill>
                <a:latin typeface="Malgun Gothic" panose="020B0503020000020004" pitchFamily="50" charset="-127"/>
              </a:rPr>
              <a:t>게임 진행 흐름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07F46A-0B90-A9F6-623E-F115ECCF6786}"/>
              </a:ext>
            </a:extLst>
          </p:cNvPr>
          <p:cNvSpPr txBox="1"/>
          <p:nvPr/>
        </p:nvSpPr>
        <p:spPr>
          <a:xfrm>
            <a:off x="762000" y="1930400"/>
            <a:ext cx="86360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700">
                <a:solidFill>
                  <a:srgbClr val="464646"/>
                </a:solidFill>
                <a:latin typeface="Malgun Gothic" panose="020B0503020000020004" pitchFamily="50" charset="-127"/>
              </a:rPr>
              <a:t>제안서의 핵심 루프를 현재 구현 흐름에 맞춰 완성했습니다</a:t>
            </a:r>
            <a:r>
              <a:rPr lang="en-US" altLang="ko-KR" sz="1700">
                <a:solidFill>
                  <a:srgbClr val="464646"/>
                </a:solidFill>
                <a:latin typeface="Malgun Gothic" panose="020B0503020000020004" pitchFamily="50" charset="-127"/>
              </a:rPr>
              <a:t>.</a:t>
            </a:r>
            <a:endParaRPr lang="ko-KR" altLang="en-US" sz="1700">
              <a:solidFill>
                <a:srgbClr val="464646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080439EE-30C3-91B0-227D-F349A4D02810}"/>
              </a:ext>
            </a:extLst>
          </p:cNvPr>
          <p:cNvCxnSpPr/>
          <p:nvPr/>
        </p:nvCxnSpPr>
        <p:spPr>
          <a:xfrm>
            <a:off x="1397000" y="4038600"/>
            <a:ext cx="9398000" cy="0"/>
          </a:xfrm>
          <a:prstGeom prst="line">
            <a:avLst/>
          </a:prstGeom>
          <a:ln w="1524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타원 7">
            <a:extLst>
              <a:ext uri="{FF2B5EF4-FFF2-40B4-BE49-F238E27FC236}">
                <a16:creationId xmlns:a16="http://schemas.microsoft.com/office/drawing/2014/main" id="{DCD31564-14DD-2AFC-AD5C-AD904A4C5C93}"/>
              </a:ext>
            </a:extLst>
          </p:cNvPr>
          <p:cNvSpPr/>
          <p:nvPr/>
        </p:nvSpPr>
        <p:spPr>
          <a:xfrm>
            <a:off x="1219200" y="3860800"/>
            <a:ext cx="355600" cy="355600"/>
          </a:xfrm>
          <a:prstGeom prst="ellipse">
            <a:avLst/>
          </a:prstGeom>
          <a:solidFill>
            <a:srgbClr val="FFFFFF"/>
          </a:solidFill>
          <a:ln w="13970" cap="flat" cmpd="sng" algn="ctr">
            <a:solidFill>
              <a:srgbClr val="00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0456E8-873D-3905-0C55-2A8A7183342C}"/>
              </a:ext>
            </a:extLst>
          </p:cNvPr>
          <p:cNvSpPr txBox="1"/>
          <p:nvPr/>
        </p:nvSpPr>
        <p:spPr>
          <a:xfrm>
            <a:off x="1244600" y="3924300"/>
            <a:ext cx="3048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00" b="1">
                <a:solidFill>
                  <a:srgbClr val="000000"/>
                </a:solidFill>
                <a:latin typeface="Malgun Gothic" panose="020B0503020000020004" pitchFamily="50" charset="-127"/>
              </a:rPr>
              <a:t>1</a:t>
            </a:r>
            <a:endParaRPr lang="ko-KR" altLang="en-US" sz="800" b="1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D6E60C7-FA77-E791-642A-F7CD20F73F03}"/>
              </a:ext>
            </a:extLst>
          </p:cNvPr>
          <p:cNvSpPr txBox="1"/>
          <p:nvPr/>
        </p:nvSpPr>
        <p:spPr>
          <a:xfrm>
            <a:off x="787400" y="4445000"/>
            <a:ext cx="12192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1300" b="1">
                <a:solidFill>
                  <a:srgbClr val="232323"/>
                </a:solidFill>
                <a:latin typeface="Malgun Gothic" panose="020B0503020000020004" pitchFamily="50" charset="-127"/>
              </a:rPr>
              <a:t>탐험</a:t>
            </a: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9E89B9EB-937C-AEEA-7F9C-4C34B3773E9C}"/>
              </a:ext>
            </a:extLst>
          </p:cNvPr>
          <p:cNvSpPr/>
          <p:nvPr/>
        </p:nvSpPr>
        <p:spPr>
          <a:xfrm>
            <a:off x="3098800" y="3860800"/>
            <a:ext cx="355600" cy="355600"/>
          </a:xfrm>
          <a:prstGeom prst="ellipse">
            <a:avLst/>
          </a:prstGeom>
          <a:solidFill>
            <a:srgbClr val="FFFFFF"/>
          </a:solidFill>
          <a:ln w="13970" cap="flat" cmpd="sng" algn="ctr">
            <a:solidFill>
              <a:srgbClr val="00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500B91-34EB-8612-D982-B55210DDF016}"/>
              </a:ext>
            </a:extLst>
          </p:cNvPr>
          <p:cNvSpPr txBox="1"/>
          <p:nvPr/>
        </p:nvSpPr>
        <p:spPr>
          <a:xfrm>
            <a:off x="3124200" y="3924300"/>
            <a:ext cx="3048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00" b="1">
                <a:solidFill>
                  <a:srgbClr val="000000"/>
                </a:solidFill>
                <a:latin typeface="Malgun Gothic" panose="020B0503020000020004" pitchFamily="50" charset="-127"/>
              </a:rPr>
              <a:t>2</a:t>
            </a:r>
            <a:endParaRPr lang="ko-KR" altLang="en-US" sz="800" b="1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2455D1-A431-B95E-5429-7A0C877D1CEC}"/>
              </a:ext>
            </a:extLst>
          </p:cNvPr>
          <p:cNvSpPr txBox="1"/>
          <p:nvPr/>
        </p:nvSpPr>
        <p:spPr>
          <a:xfrm>
            <a:off x="2667000" y="4445000"/>
            <a:ext cx="12192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1300" b="1">
                <a:solidFill>
                  <a:srgbClr val="232323"/>
                </a:solidFill>
                <a:latin typeface="Malgun Gothic" panose="020B0503020000020004" pitchFamily="50" charset="-127"/>
              </a:rPr>
              <a:t>회수</a:t>
            </a: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9EF14E72-C53E-D61D-D9A9-2667FAADE35B}"/>
              </a:ext>
            </a:extLst>
          </p:cNvPr>
          <p:cNvSpPr/>
          <p:nvPr/>
        </p:nvSpPr>
        <p:spPr>
          <a:xfrm>
            <a:off x="4978400" y="3860800"/>
            <a:ext cx="355600" cy="355600"/>
          </a:xfrm>
          <a:prstGeom prst="ellipse">
            <a:avLst/>
          </a:prstGeom>
          <a:solidFill>
            <a:srgbClr val="FFFFFF"/>
          </a:solidFill>
          <a:ln w="13970" cap="flat" cmpd="sng" algn="ctr">
            <a:solidFill>
              <a:srgbClr val="00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D071BF-D0CA-3F80-5B28-7527533A77C6}"/>
              </a:ext>
            </a:extLst>
          </p:cNvPr>
          <p:cNvSpPr txBox="1"/>
          <p:nvPr/>
        </p:nvSpPr>
        <p:spPr>
          <a:xfrm>
            <a:off x="5003800" y="3924300"/>
            <a:ext cx="3048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00" b="1">
                <a:solidFill>
                  <a:srgbClr val="000000"/>
                </a:solidFill>
                <a:latin typeface="Malgun Gothic" panose="020B0503020000020004" pitchFamily="50" charset="-127"/>
              </a:rPr>
              <a:t>3</a:t>
            </a:r>
            <a:endParaRPr lang="ko-KR" altLang="en-US" sz="800" b="1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BD874C-A0A8-C68C-D80D-A6E887874959}"/>
              </a:ext>
            </a:extLst>
          </p:cNvPr>
          <p:cNvSpPr txBox="1"/>
          <p:nvPr/>
        </p:nvSpPr>
        <p:spPr>
          <a:xfrm>
            <a:off x="4546600" y="4445000"/>
            <a:ext cx="12192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1300" b="1">
                <a:solidFill>
                  <a:srgbClr val="232323"/>
                </a:solidFill>
                <a:latin typeface="Malgun Gothic" panose="020B0503020000020004" pitchFamily="50" charset="-127"/>
              </a:rPr>
              <a:t>복원</a:t>
            </a: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23235B8B-C492-C3F4-E47F-3BBF3F6722F7}"/>
              </a:ext>
            </a:extLst>
          </p:cNvPr>
          <p:cNvSpPr/>
          <p:nvPr/>
        </p:nvSpPr>
        <p:spPr>
          <a:xfrm>
            <a:off x="6858000" y="3860800"/>
            <a:ext cx="355600" cy="355600"/>
          </a:xfrm>
          <a:prstGeom prst="ellipse">
            <a:avLst/>
          </a:prstGeom>
          <a:solidFill>
            <a:srgbClr val="FFFFFF"/>
          </a:solidFill>
          <a:ln w="13970" cap="flat" cmpd="sng" algn="ctr">
            <a:solidFill>
              <a:srgbClr val="00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243997-7E14-6AE6-9CE4-C55700C07F61}"/>
              </a:ext>
            </a:extLst>
          </p:cNvPr>
          <p:cNvSpPr txBox="1"/>
          <p:nvPr/>
        </p:nvSpPr>
        <p:spPr>
          <a:xfrm>
            <a:off x="6883400" y="3924300"/>
            <a:ext cx="3048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00" b="1">
                <a:solidFill>
                  <a:srgbClr val="000000"/>
                </a:solidFill>
                <a:latin typeface="Malgun Gothic" panose="020B0503020000020004" pitchFamily="50" charset="-127"/>
              </a:rPr>
              <a:t>4</a:t>
            </a:r>
            <a:endParaRPr lang="ko-KR" altLang="en-US" sz="800" b="1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8A87CC-8325-6F9A-A6F2-6AD93B7C05A0}"/>
              </a:ext>
            </a:extLst>
          </p:cNvPr>
          <p:cNvSpPr txBox="1"/>
          <p:nvPr/>
        </p:nvSpPr>
        <p:spPr>
          <a:xfrm>
            <a:off x="6426200" y="4445000"/>
            <a:ext cx="12192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1300" b="1">
                <a:solidFill>
                  <a:srgbClr val="232323"/>
                </a:solidFill>
                <a:latin typeface="Malgun Gothic" panose="020B0503020000020004" pitchFamily="50" charset="-127"/>
              </a:rPr>
              <a:t>선택</a:t>
            </a: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CB15540C-5BF9-8DF7-F18C-3F1AB3BB3AAA}"/>
              </a:ext>
            </a:extLst>
          </p:cNvPr>
          <p:cNvSpPr/>
          <p:nvPr/>
        </p:nvSpPr>
        <p:spPr>
          <a:xfrm>
            <a:off x="8737600" y="3860800"/>
            <a:ext cx="355600" cy="355600"/>
          </a:xfrm>
          <a:prstGeom prst="ellipse">
            <a:avLst/>
          </a:prstGeom>
          <a:solidFill>
            <a:srgbClr val="FFFFFF"/>
          </a:solidFill>
          <a:ln w="13970" cap="flat" cmpd="sng" algn="ctr">
            <a:solidFill>
              <a:srgbClr val="00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9CF15E7-49A5-249D-2009-C8D3D7B7B636}"/>
              </a:ext>
            </a:extLst>
          </p:cNvPr>
          <p:cNvSpPr txBox="1"/>
          <p:nvPr/>
        </p:nvSpPr>
        <p:spPr>
          <a:xfrm>
            <a:off x="8763000" y="3924300"/>
            <a:ext cx="3048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00" b="1">
                <a:solidFill>
                  <a:srgbClr val="000000"/>
                </a:solidFill>
                <a:latin typeface="Malgun Gothic" panose="020B0503020000020004" pitchFamily="50" charset="-127"/>
              </a:rPr>
              <a:t>5</a:t>
            </a:r>
            <a:endParaRPr lang="ko-KR" altLang="en-US" sz="800" b="1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0DEBD7-6B1A-F7CA-15DA-EE4BFB7876EA}"/>
              </a:ext>
            </a:extLst>
          </p:cNvPr>
          <p:cNvSpPr txBox="1"/>
          <p:nvPr/>
        </p:nvSpPr>
        <p:spPr>
          <a:xfrm>
            <a:off x="8305800" y="4445000"/>
            <a:ext cx="12192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1300" b="1">
                <a:solidFill>
                  <a:srgbClr val="232323"/>
                </a:solidFill>
                <a:latin typeface="Malgun Gothic" panose="020B0503020000020004" pitchFamily="50" charset="-127"/>
              </a:rPr>
              <a:t>기록</a:t>
            </a: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47369D83-CE8E-3D2A-BEFF-D351D1533B83}"/>
              </a:ext>
            </a:extLst>
          </p:cNvPr>
          <p:cNvSpPr/>
          <p:nvPr/>
        </p:nvSpPr>
        <p:spPr>
          <a:xfrm>
            <a:off x="10617200" y="3860800"/>
            <a:ext cx="355600" cy="355600"/>
          </a:xfrm>
          <a:prstGeom prst="ellipse">
            <a:avLst/>
          </a:prstGeom>
          <a:solidFill>
            <a:srgbClr val="FFFFFF"/>
          </a:solidFill>
          <a:ln w="13970" cap="flat" cmpd="sng" algn="ctr">
            <a:solidFill>
              <a:srgbClr val="00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3B739F4-C899-34E1-30E8-9ED3372F3C28}"/>
              </a:ext>
            </a:extLst>
          </p:cNvPr>
          <p:cNvSpPr txBox="1"/>
          <p:nvPr/>
        </p:nvSpPr>
        <p:spPr>
          <a:xfrm>
            <a:off x="10642600" y="3924300"/>
            <a:ext cx="3048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00" b="1">
                <a:solidFill>
                  <a:srgbClr val="000000"/>
                </a:solidFill>
                <a:latin typeface="Malgun Gothic" panose="020B0503020000020004" pitchFamily="50" charset="-127"/>
              </a:rPr>
              <a:t>6</a:t>
            </a:r>
            <a:endParaRPr lang="ko-KR" altLang="en-US" sz="800" b="1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54876E-6C04-47F8-57C1-AFC8FDEABE84}"/>
              </a:ext>
            </a:extLst>
          </p:cNvPr>
          <p:cNvSpPr txBox="1"/>
          <p:nvPr/>
        </p:nvSpPr>
        <p:spPr>
          <a:xfrm>
            <a:off x="10185400" y="4445000"/>
            <a:ext cx="12192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1300" b="1">
                <a:solidFill>
                  <a:srgbClr val="232323"/>
                </a:solidFill>
                <a:latin typeface="Malgun Gothic" panose="020B0503020000020004" pitchFamily="50" charset="-127"/>
              </a:rPr>
              <a:t>아카이브</a:t>
            </a:r>
          </a:p>
        </p:txBody>
      </p:sp>
    </p:spTree>
    <p:extLst>
      <p:ext uri="{BB962C8B-B14F-4D97-AF65-F5344CB8AC3E}">
        <p14:creationId xmlns:p14="http://schemas.microsoft.com/office/powerpoint/2010/main" val="17936817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865A5C-E09A-FACA-468E-1EE59061DA04}"/>
              </a:ext>
            </a:extLst>
          </p:cNvPr>
          <p:cNvSpPr txBox="1"/>
          <p:nvPr/>
        </p:nvSpPr>
        <p:spPr>
          <a:xfrm>
            <a:off x="762000" y="431800"/>
            <a:ext cx="11430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3400" b="1">
                <a:solidFill>
                  <a:srgbClr val="000000"/>
                </a:solidFill>
                <a:latin typeface="Malgun Gothic" panose="020B0503020000020004" pitchFamily="50" charset="-127"/>
              </a:rPr>
              <a:t>07</a:t>
            </a:r>
            <a:endParaRPr lang="ko-KR" altLang="en-US" sz="3400" b="1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B26848-2C48-4B46-3866-F1D3F1223EDC}"/>
              </a:ext>
            </a:extLst>
          </p:cNvPr>
          <p:cNvSpPr txBox="1"/>
          <p:nvPr/>
        </p:nvSpPr>
        <p:spPr>
          <a:xfrm>
            <a:off x="2159000" y="533400"/>
            <a:ext cx="66040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00">
                <a:solidFill>
                  <a:srgbClr val="787878"/>
                </a:solidFill>
                <a:latin typeface="Malgun Gothic" panose="020B0503020000020004" pitchFamily="50" charset="-127"/>
              </a:rPr>
              <a:t>THREE LENS PUZZLES</a:t>
            </a:r>
            <a:endParaRPr lang="ko-KR" altLang="en-US" sz="800">
              <a:solidFill>
                <a:srgbClr val="787878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560401-4031-5DF6-49E4-D5BE94748F62}"/>
              </a:ext>
            </a:extLst>
          </p:cNvPr>
          <p:cNvCxnSpPr/>
          <p:nvPr/>
        </p:nvCxnSpPr>
        <p:spPr>
          <a:xfrm>
            <a:off x="2159000" y="850900"/>
            <a:ext cx="9271000" cy="0"/>
          </a:xfrm>
          <a:prstGeom prst="line">
            <a:avLst/>
          </a:prstGeom>
          <a:ln w="9525">
            <a:solidFill>
              <a:srgbClr val="D2D2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A19DC57-E360-543C-FD15-D657A4439934}"/>
              </a:ext>
            </a:extLst>
          </p:cNvPr>
          <p:cNvSpPr txBox="1"/>
          <p:nvPr/>
        </p:nvSpPr>
        <p:spPr>
          <a:xfrm>
            <a:off x="762000" y="1168400"/>
            <a:ext cx="68580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3200" b="1">
                <a:solidFill>
                  <a:srgbClr val="121212"/>
                </a:solidFill>
                <a:latin typeface="Malgun Gothic" panose="020B0503020000020004" pitchFamily="50" charset="-127"/>
              </a:rPr>
              <a:t>기억 렌즈 퍼즐 </a:t>
            </a:r>
            <a:r>
              <a:rPr lang="en-US" altLang="ko-KR" sz="3200" b="1">
                <a:solidFill>
                  <a:srgbClr val="121212"/>
                </a:solidFill>
                <a:latin typeface="Malgun Gothic" panose="020B0503020000020004" pitchFamily="50" charset="-127"/>
              </a:rPr>
              <a:t>3</a:t>
            </a:r>
            <a:r>
              <a:rPr lang="ko-KR" altLang="en-US" sz="3200" b="1">
                <a:solidFill>
                  <a:srgbClr val="121212"/>
                </a:solidFill>
                <a:latin typeface="Malgun Gothic" panose="020B0503020000020004" pitchFamily="50" charset="-127"/>
              </a:rPr>
              <a:t>종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8B5609-5750-100E-EDDA-C947E878D89E}"/>
              </a:ext>
            </a:extLst>
          </p:cNvPr>
          <p:cNvSpPr txBox="1"/>
          <p:nvPr/>
        </p:nvSpPr>
        <p:spPr>
          <a:xfrm>
            <a:off x="762000" y="1930400"/>
            <a:ext cx="86360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700">
                <a:solidFill>
                  <a:srgbClr val="464646"/>
                </a:solidFill>
                <a:latin typeface="Malgun Gothic" panose="020B0503020000020004" pitchFamily="50" charset="-127"/>
              </a:rPr>
              <a:t>겹치기</a:t>
            </a:r>
            <a:r>
              <a:rPr lang="en-US" altLang="ko-KR" sz="1700">
                <a:solidFill>
                  <a:srgbClr val="464646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700">
                <a:solidFill>
                  <a:srgbClr val="464646"/>
                </a:solidFill>
                <a:latin typeface="Malgun Gothic" panose="020B0503020000020004" pitchFamily="50" charset="-127"/>
              </a:rPr>
              <a:t>가리기</a:t>
            </a:r>
            <a:r>
              <a:rPr lang="en-US" altLang="ko-KR" sz="1700">
                <a:solidFill>
                  <a:srgbClr val="464646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700">
                <a:solidFill>
                  <a:srgbClr val="464646"/>
                </a:solidFill>
                <a:latin typeface="Malgun Gothic" panose="020B0503020000020004" pitchFamily="50" charset="-127"/>
              </a:rPr>
              <a:t>멈추기로 기억을 복원합니다</a:t>
            </a:r>
            <a:r>
              <a:rPr lang="en-US" altLang="ko-KR" sz="1700">
                <a:solidFill>
                  <a:srgbClr val="464646"/>
                </a:solidFill>
                <a:latin typeface="Malgun Gothic" panose="020B0503020000020004" pitchFamily="50" charset="-127"/>
              </a:rPr>
              <a:t>.</a:t>
            </a:r>
            <a:endParaRPr lang="ko-KR" altLang="en-US" sz="1700">
              <a:solidFill>
                <a:srgbClr val="464646"/>
              </a:solidFill>
              <a:latin typeface="Malgun Gothic" panose="020B0503020000020004" pitchFamily="50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76292A5-3712-8AFC-E88C-A9B1664606D2}"/>
              </a:ext>
            </a:extLst>
          </p:cNvPr>
          <p:cNvSpPr/>
          <p:nvPr/>
        </p:nvSpPr>
        <p:spPr>
          <a:xfrm>
            <a:off x="762000" y="3022600"/>
            <a:ext cx="3175000" cy="22606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EFCC53-7EE7-C48B-99F9-56BC1E2FF80B}"/>
              </a:ext>
            </a:extLst>
          </p:cNvPr>
          <p:cNvSpPr txBox="1"/>
          <p:nvPr/>
        </p:nvSpPr>
        <p:spPr>
          <a:xfrm>
            <a:off x="1016000" y="3302000"/>
            <a:ext cx="26670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2200" b="1">
                <a:solidFill>
                  <a:srgbClr val="000000"/>
                </a:solidFill>
                <a:latin typeface="Malgun Gothic" panose="020B0503020000020004" pitchFamily="50" charset="-127"/>
              </a:rPr>
              <a:t>LensAlign</a:t>
            </a:r>
            <a:endParaRPr lang="ko-KR" altLang="en-US" sz="2200" b="1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E730BB-F230-D9DF-BFE7-644D41AAFDE0}"/>
              </a:ext>
            </a:extLst>
          </p:cNvPr>
          <p:cNvSpPr txBox="1"/>
          <p:nvPr/>
        </p:nvSpPr>
        <p:spPr>
          <a:xfrm>
            <a:off x="1016000" y="3860800"/>
            <a:ext cx="2667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400" b="1">
                <a:solidFill>
                  <a:srgbClr val="505050"/>
                </a:solidFill>
                <a:latin typeface="Malgun Gothic" panose="020B0503020000020004" pitchFamily="50" charset="-127"/>
              </a:rPr>
              <a:t>파란 우산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A8D838B4-12F0-E9B0-3FD6-CC1780960741}"/>
              </a:ext>
            </a:extLst>
          </p:cNvPr>
          <p:cNvCxnSpPr/>
          <p:nvPr/>
        </p:nvCxnSpPr>
        <p:spPr>
          <a:xfrm>
            <a:off x="1016000" y="4292600"/>
            <a:ext cx="2667000" cy="0"/>
          </a:xfrm>
          <a:prstGeom prst="line">
            <a:avLst/>
          </a:prstGeom>
          <a:ln w="1016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6D5F849-41A8-7057-811E-3477C44B8B43}"/>
              </a:ext>
            </a:extLst>
          </p:cNvPr>
          <p:cNvSpPr txBox="1"/>
          <p:nvPr/>
        </p:nvSpPr>
        <p:spPr>
          <a:xfrm>
            <a:off x="1016000" y="4597400"/>
            <a:ext cx="26416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300">
                <a:solidFill>
                  <a:srgbClr val="373737"/>
                </a:solidFill>
                <a:latin typeface="Malgun Gothic" panose="020B0503020000020004" pitchFamily="50" charset="-127"/>
              </a:rPr>
              <a:t>빈칸을 대상과 겹쳐 복원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59219AD-B7C7-848B-DBAA-2289C03F1F88}"/>
              </a:ext>
            </a:extLst>
          </p:cNvPr>
          <p:cNvSpPr/>
          <p:nvPr/>
        </p:nvSpPr>
        <p:spPr>
          <a:xfrm>
            <a:off x="4572000" y="3022600"/>
            <a:ext cx="3175000" cy="22606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9ABD8DC-99A3-7F14-EA51-7AC5BE34951C}"/>
              </a:ext>
            </a:extLst>
          </p:cNvPr>
          <p:cNvSpPr txBox="1"/>
          <p:nvPr/>
        </p:nvSpPr>
        <p:spPr>
          <a:xfrm>
            <a:off x="4826000" y="3302000"/>
            <a:ext cx="26670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2200" b="1">
                <a:solidFill>
                  <a:srgbClr val="000000"/>
                </a:solidFill>
                <a:latin typeface="Malgun Gothic" panose="020B0503020000020004" pitchFamily="50" charset="-127"/>
              </a:rPr>
              <a:t>LensOcclude</a:t>
            </a:r>
            <a:endParaRPr lang="ko-KR" altLang="en-US" sz="2200" b="1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B11408D-DC32-AB42-42F1-79AECB6072D6}"/>
              </a:ext>
            </a:extLst>
          </p:cNvPr>
          <p:cNvSpPr txBox="1"/>
          <p:nvPr/>
        </p:nvSpPr>
        <p:spPr>
          <a:xfrm>
            <a:off x="4826000" y="3860800"/>
            <a:ext cx="2667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400" b="1">
                <a:solidFill>
                  <a:srgbClr val="505050"/>
                </a:solidFill>
                <a:latin typeface="Malgun Gothic" panose="020B0503020000020004" pitchFamily="50" charset="-127"/>
              </a:rPr>
              <a:t>안내 방송</a:t>
            </a: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05CE4521-A149-BA5E-4C52-1825CBA2CCED}"/>
              </a:ext>
            </a:extLst>
          </p:cNvPr>
          <p:cNvCxnSpPr/>
          <p:nvPr/>
        </p:nvCxnSpPr>
        <p:spPr>
          <a:xfrm>
            <a:off x="4826000" y="4292600"/>
            <a:ext cx="2667000" cy="0"/>
          </a:xfrm>
          <a:prstGeom prst="line">
            <a:avLst/>
          </a:prstGeom>
          <a:ln w="1016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95A168A-08D8-98A5-BAB6-11ECEF32B1B8}"/>
              </a:ext>
            </a:extLst>
          </p:cNvPr>
          <p:cNvSpPr txBox="1"/>
          <p:nvPr/>
        </p:nvSpPr>
        <p:spPr>
          <a:xfrm>
            <a:off x="4826000" y="4597400"/>
            <a:ext cx="26416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300">
                <a:solidFill>
                  <a:srgbClr val="373737"/>
                </a:solidFill>
                <a:latin typeface="Malgun Gothic" panose="020B0503020000020004" pitchFamily="50" charset="-127"/>
              </a:rPr>
              <a:t>가려야 진실이 드러남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5AFDA17-F0CF-B9B2-06DB-5D9CBA8AD4C7}"/>
              </a:ext>
            </a:extLst>
          </p:cNvPr>
          <p:cNvSpPr/>
          <p:nvPr/>
        </p:nvSpPr>
        <p:spPr>
          <a:xfrm>
            <a:off x="8382000" y="3022600"/>
            <a:ext cx="3175000" cy="22606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0BDAAD-C147-F2B7-EF82-2220CD5A9AFB}"/>
              </a:ext>
            </a:extLst>
          </p:cNvPr>
          <p:cNvSpPr txBox="1"/>
          <p:nvPr/>
        </p:nvSpPr>
        <p:spPr>
          <a:xfrm>
            <a:off x="8636000" y="3302000"/>
            <a:ext cx="26670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2200" b="1">
                <a:solidFill>
                  <a:srgbClr val="000000"/>
                </a:solidFill>
                <a:latin typeface="Malgun Gothic" panose="020B0503020000020004" pitchFamily="50" charset="-127"/>
              </a:rPr>
              <a:t>Stillness</a:t>
            </a:r>
            <a:endParaRPr lang="ko-KR" altLang="en-US" sz="2200" b="1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DC75DDA-53DF-A199-B4FD-D5AEE0259422}"/>
              </a:ext>
            </a:extLst>
          </p:cNvPr>
          <p:cNvSpPr txBox="1"/>
          <p:nvPr/>
        </p:nvSpPr>
        <p:spPr>
          <a:xfrm>
            <a:off x="8636000" y="3860800"/>
            <a:ext cx="2667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400" b="1">
                <a:solidFill>
                  <a:srgbClr val="505050"/>
                </a:solidFill>
                <a:latin typeface="Malgun Gothic" panose="020B0503020000020004" pitchFamily="50" charset="-127"/>
              </a:rPr>
              <a:t>빈 파일</a:t>
            </a:r>
          </a:p>
        </p:txBody>
      </p: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3DD106C6-6825-E53F-FFD5-DEC9849A17EF}"/>
              </a:ext>
            </a:extLst>
          </p:cNvPr>
          <p:cNvCxnSpPr/>
          <p:nvPr/>
        </p:nvCxnSpPr>
        <p:spPr>
          <a:xfrm>
            <a:off x="8636000" y="4292600"/>
            <a:ext cx="2667000" cy="0"/>
          </a:xfrm>
          <a:prstGeom prst="line">
            <a:avLst/>
          </a:prstGeom>
          <a:ln w="1016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645860B-6F65-5254-1D32-1D9A74721602}"/>
              </a:ext>
            </a:extLst>
          </p:cNvPr>
          <p:cNvSpPr txBox="1"/>
          <p:nvPr/>
        </p:nvSpPr>
        <p:spPr>
          <a:xfrm>
            <a:off x="8636000" y="4597400"/>
            <a:ext cx="26416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300">
                <a:solidFill>
                  <a:srgbClr val="373737"/>
                </a:solidFill>
                <a:latin typeface="Malgun Gothic" panose="020B0503020000020004" pitchFamily="50" charset="-127"/>
              </a:rPr>
              <a:t>멈춰 있어야 문장이 열림</a:t>
            </a:r>
          </a:p>
        </p:txBody>
      </p:sp>
    </p:spTree>
    <p:extLst>
      <p:ext uri="{BB962C8B-B14F-4D97-AF65-F5344CB8AC3E}">
        <p14:creationId xmlns:p14="http://schemas.microsoft.com/office/powerpoint/2010/main" val="12902697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84A0F6-9489-8740-B5EC-A4872C75815F}"/>
              </a:ext>
            </a:extLst>
          </p:cNvPr>
          <p:cNvSpPr txBox="1"/>
          <p:nvPr/>
        </p:nvSpPr>
        <p:spPr>
          <a:xfrm>
            <a:off x="762000" y="431800"/>
            <a:ext cx="11430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3400" b="1">
                <a:solidFill>
                  <a:srgbClr val="000000"/>
                </a:solidFill>
                <a:latin typeface="Malgun Gothic" panose="020B0503020000020004" pitchFamily="50" charset="-127"/>
              </a:rPr>
              <a:t>08</a:t>
            </a:r>
            <a:endParaRPr lang="ko-KR" altLang="en-US" sz="3400" b="1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C85841-7C6E-4D46-EFBA-FF38D0BCE84A}"/>
              </a:ext>
            </a:extLst>
          </p:cNvPr>
          <p:cNvSpPr txBox="1"/>
          <p:nvPr/>
        </p:nvSpPr>
        <p:spPr>
          <a:xfrm>
            <a:off x="2159000" y="533400"/>
            <a:ext cx="66040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00">
                <a:solidFill>
                  <a:srgbClr val="787878"/>
                </a:solidFill>
                <a:latin typeface="Malgun Gothic" panose="020B0503020000020004" pitchFamily="50" charset="-127"/>
              </a:rPr>
              <a:t>CHOICE DESIGN</a:t>
            </a:r>
            <a:endParaRPr lang="ko-KR" altLang="en-US" sz="800">
              <a:solidFill>
                <a:srgbClr val="787878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FD5CFF56-D39A-D8FD-F7C9-162FDFE0C973}"/>
              </a:ext>
            </a:extLst>
          </p:cNvPr>
          <p:cNvCxnSpPr/>
          <p:nvPr/>
        </p:nvCxnSpPr>
        <p:spPr>
          <a:xfrm>
            <a:off x="2159000" y="850900"/>
            <a:ext cx="9271000" cy="0"/>
          </a:xfrm>
          <a:prstGeom prst="line">
            <a:avLst/>
          </a:prstGeom>
          <a:ln w="9525">
            <a:solidFill>
              <a:srgbClr val="D2D2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3D58221-0F5E-D06C-2279-5E2F900CBA7D}"/>
              </a:ext>
            </a:extLst>
          </p:cNvPr>
          <p:cNvSpPr txBox="1"/>
          <p:nvPr/>
        </p:nvSpPr>
        <p:spPr>
          <a:xfrm>
            <a:off x="762000" y="1168400"/>
            <a:ext cx="68580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3200" b="1">
                <a:solidFill>
                  <a:srgbClr val="121212"/>
                </a:solidFill>
                <a:latin typeface="Malgun Gothic" panose="020B0503020000020004" pitchFamily="50" charset="-127"/>
              </a:rPr>
              <a:t>보존 </a:t>
            </a:r>
            <a:r>
              <a:rPr lang="en-US" altLang="ko-KR" sz="3200" b="1">
                <a:solidFill>
                  <a:srgbClr val="121212"/>
                </a:solidFill>
                <a:latin typeface="Malgun Gothic" panose="020B0503020000020004" pitchFamily="50" charset="-127"/>
              </a:rPr>
              <a:t>/ </a:t>
            </a:r>
            <a:r>
              <a:rPr lang="ko-KR" altLang="en-US" sz="3200" b="1">
                <a:solidFill>
                  <a:srgbClr val="121212"/>
                </a:solidFill>
                <a:latin typeface="Malgun Gothic" panose="020B0503020000020004" pitchFamily="50" charset="-127"/>
              </a:rPr>
              <a:t>삭제 </a:t>
            </a:r>
            <a:r>
              <a:rPr lang="en-US" altLang="ko-KR" sz="3200" b="1">
                <a:solidFill>
                  <a:srgbClr val="121212"/>
                </a:solidFill>
                <a:latin typeface="Malgun Gothic" panose="020B0503020000020004" pitchFamily="50" charset="-127"/>
              </a:rPr>
              <a:t>/ </a:t>
            </a:r>
            <a:r>
              <a:rPr lang="ko-KR" altLang="en-US" sz="3200" b="1">
                <a:solidFill>
                  <a:srgbClr val="121212"/>
                </a:solidFill>
                <a:latin typeface="Malgun Gothic" panose="020B0503020000020004" pitchFamily="50" charset="-127"/>
              </a:rPr>
              <a:t>재가공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A279C1-BAB1-8F57-3DE2-E2D97792DEC0}"/>
              </a:ext>
            </a:extLst>
          </p:cNvPr>
          <p:cNvSpPr txBox="1"/>
          <p:nvPr/>
        </p:nvSpPr>
        <p:spPr>
          <a:xfrm>
            <a:off x="762000" y="1930400"/>
            <a:ext cx="86360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700">
                <a:solidFill>
                  <a:srgbClr val="464646"/>
                </a:solidFill>
                <a:latin typeface="Malgun Gothic" panose="020B0503020000020004" pitchFamily="50" charset="-127"/>
              </a:rPr>
              <a:t>같은 기억도 선택에 따라 다른 증언으로 남습니다</a:t>
            </a:r>
            <a:r>
              <a:rPr lang="en-US" altLang="ko-KR" sz="1700">
                <a:solidFill>
                  <a:srgbClr val="464646"/>
                </a:solidFill>
                <a:latin typeface="Malgun Gothic" panose="020B0503020000020004" pitchFamily="50" charset="-127"/>
              </a:rPr>
              <a:t>.</a:t>
            </a:r>
            <a:endParaRPr lang="ko-KR" altLang="en-US" sz="1700">
              <a:solidFill>
                <a:srgbClr val="464646"/>
              </a:solidFill>
              <a:latin typeface="Malgun Gothic" panose="020B0503020000020004" pitchFamily="50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1A53B9-6AEA-FD5B-CDE0-8FBFEC4A5407}"/>
              </a:ext>
            </a:extLst>
          </p:cNvPr>
          <p:cNvSpPr/>
          <p:nvPr/>
        </p:nvSpPr>
        <p:spPr>
          <a:xfrm>
            <a:off x="889000" y="2997200"/>
            <a:ext cx="2984500" cy="2260600"/>
          </a:xfrm>
          <a:prstGeom prst="rect">
            <a:avLst/>
          </a:prstGeom>
          <a:solidFill>
            <a:srgbClr val="FAFAFA"/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015CE1-AA49-9B8F-8608-17D2614293A5}"/>
              </a:ext>
            </a:extLst>
          </p:cNvPr>
          <p:cNvSpPr txBox="1"/>
          <p:nvPr/>
        </p:nvSpPr>
        <p:spPr>
          <a:xfrm>
            <a:off x="1117600" y="32766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2400" b="1">
                <a:solidFill>
                  <a:srgbClr val="000000"/>
                </a:solidFill>
                <a:latin typeface="Malgun Gothic" panose="020B0503020000020004" pitchFamily="50" charset="-127"/>
              </a:rPr>
              <a:t>보존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7FC020-EF35-96AA-7290-F0FCA31D3C9E}"/>
              </a:ext>
            </a:extLst>
          </p:cNvPr>
          <p:cNvSpPr txBox="1"/>
          <p:nvPr/>
        </p:nvSpPr>
        <p:spPr>
          <a:xfrm>
            <a:off x="1117600" y="3886200"/>
            <a:ext cx="2413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500" b="1">
                <a:solidFill>
                  <a:srgbClr val="464646"/>
                </a:solidFill>
                <a:latin typeface="Malgun Gothic" panose="020B0503020000020004" pitchFamily="50" charset="-127"/>
              </a:rPr>
              <a:t>원본 증언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320F60-2274-BBA4-9456-D1FEBE3F0B74}"/>
              </a:ext>
            </a:extLst>
          </p:cNvPr>
          <p:cNvSpPr txBox="1"/>
          <p:nvPr/>
        </p:nvSpPr>
        <p:spPr>
          <a:xfrm>
            <a:off x="1117600" y="4394200"/>
            <a:ext cx="24130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300">
                <a:solidFill>
                  <a:srgbClr val="3C3C3C"/>
                </a:solidFill>
                <a:latin typeface="Malgun Gothic" panose="020B0503020000020004" pitchFamily="50" charset="-127"/>
              </a:rPr>
              <a:t>진실과 상처를 함께 남김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8645D52-0538-7347-9667-A3D236C10C14}"/>
              </a:ext>
            </a:extLst>
          </p:cNvPr>
          <p:cNvSpPr/>
          <p:nvPr/>
        </p:nvSpPr>
        <p:spPr>
          <a:xfrm>
            <a:off x="4508500" y="2997200"/>
            <a:ext cx="2984500" cy="2260600"/>
          </a:xfrm>
          <a:prstGeom prst="rect">
            <a:avLst/>
          </a:prstGeom>
          <a:solidFill>
            <a:srgbClr val="FAFAFA"/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D618A3-8639-F5A6-6199-597A9BD59A7E}"/>
              </a:ext>
            </a:extLst>
          </p:cNvPr>
          <p:cNvSpPr txBox="1"/>
          <p:nvPr/>
        </p:nvSpPr>
        <p:spPr>
          <a:xfrm>
            <a:off x="4737100" y="32766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2400" b="1">
                <a:solidFill>
                  <a:srgbClr val="000000"/>
                </a:solidFill>
                <a:latin typeface="Malgun Gothic" panose="020B0503020000020004" pitchFamily="50" charset="-127"/>
              </a:rPr>
              <a:t>삭제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951102-CE88-3596-8091-38CEF1179AD1}"/>
              </a:ext>
            </a:extLst>
          </p:cNvPr>
          <p:cNvSpPr txBox="1"/>
          <p:nvPr/>
        </p:nvSpPr>
        <p:spPr>
          <a:xfrm>
            <a:off x="4737100" y="3886200"/>
            <a:ext cx="2413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500" b="1">
                <a:solidFill>
                  <a:srgbClr val="464646"/>
                </a:solidFill>
                <a:latin typeface="Malgun Gothic" panose="020B0503020000020004" pitchFamily="50" charset="-127"/>
              </a:rPr>
              <a:t>공백 처리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C0FD2D0-EC9B-3F6B-30FF-9A68558D1473}"/>
              </a:ext>
            </a:extLst>
          </p:cNvPr>
          <p:cNvSpPr txBox="1"/>
          <p:nvPr/>
        </p:nvSpPr>
        <p:spPr>
          <a:xfrm>
            <a:off x="4737100" y="4394200"/>
            <a:ext cx="24130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300">
                <a:solidFill>
                  <a:srgbClr val="3C3C3C"/>
                </a:solidFill>
                <a:latin typeface="Malgun Gothic" panose="020B0503020000020004" pitchFamily="50" charset="-127"/>
              </a:rPr>
              <a:t>증언 없음으로 기록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9FA32A8-9FFE-269A-7AEA-4BFEFCD68AEF}"/>
              </a:ext>
            </a:extLst>
          </p:cNvPr>
          <p:cNvSpPr/>
          <p:nvPr/>
        </p:nvSpPr>
        <p:spPr>
          <a:xfrm>
            <a:off x="8128000" y="2997200"/>
            <a:ext cx="2984500" cy="2260600"/>
          </a:xfrm>
          <a:prstGeom prst="rect">
            <a:avLst/>
          </a:prstGeom>
          <a:solidFill>
            <a:srgbClr val="FAFAFA"/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CD2030-4D3C-B256-4A3A-AD11A89698C9}"/>
              </a:ext>
            </a:extLst>
          </p:cNvPr>
          <p:cNvSpPr txBox="1"/>
          <p:nvPr/>
        </p:nvSpPr>
        <p:spPr>
          <a:xfrm>
            <a:off x="8356600" y="32766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2400" b="1">
                <a:solidFill>
                  <a:srgbClr val="000000"/>
                </a:solidFill>
                <a:latin typeface="Malgun Gothic" panose="020B0503020000020004" pitchFamily="50" charset="-127"/>
              </a:rPr>
              <a:t>재가공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C7B809C-8BE7-8300-CF11-48DA7A438D59}"/>
              </a:ext>
            </a:extLst>
          </p:cNvPr>
          <p:cNvSpPr txBox="1"/>
          <p:nvPr/>
        </p:nvSpPr>
        <p:spPr>
          <a:xfrm>
            <a:off x="8356600" y="3886200"/>
            <a:ext cx="2413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500" b="1">
                <a:solidFill>
                  <a:srgbClr val="464646"/>
                </a:solidFill>
                <a:latin typeface="Malgun Gothic" panose="020B0503020000020004" pitchFamily="50" charset="-127"/>
              </a:rPr>
              <a:t>기록 불일치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966988-24D8-609E-8DE0-7AD664A95C9B}"/>
              </a:ext>
            </a:extLst>
          </p:cNvPr>
          <p:cNvSpPr txBox="1"/>
          <p:nvPr/>
        </p:nvSpPr>
        <p:spPr>
          <a:xfrm>
            <a:off x="8356600" y="4394200"/>
            <a:ext cx="24130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300">
                <a:solidFill>
                  <a:srgbClr val="3C3C3C"/>
                </a:solidFill>
                <a:latin typeface="Malgun Gothic" panose="020B0503020000020004" pitchFamily="50" charset="-127"/>
              </a:rPr>
              <a:t>견딜 수 있는 이야기로 편집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A0B4F54-93A7-B1B8-3896-7FEAD6360C7E}"/>
              </a:ext>
            </a:extLst>
          </p:cNvPr>
          <p:cNvSpPr txBox="1"/>
          <p:nvPr/>
        </p:nvSpPr>
        <p:spPr>
          <a:xfrm>
            <a:off x="889000" y="5638800"/>
            <a:ext cx="9906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1500">
                <a:solidFill>
                  <a:srgbClr val="464646"/>
                </a:solidFill>
                <a:latin typeface="Malgun Gothic" panose="020B0503020000020004" pitchFamily="50" charset="-127"/>
              </a:rPr>
              <a:t>엔딩과 행동 기록에 반영됩니다</a:t>
            </a:r>
            <a:r>
              <a:rPr lang="en-US" altLang="ko-KR" sz="1500">
                <a:solidFill>
                  <a:srgbClr val="464646"/>
                </a:solidFill>
                <a:latin typeface="Malgun Gothic" panose="020B0503020000020004" pitchFamily="50" charset="-127"/>
              </a:rPr>
              <a:t>.</a:t>
            </a:r>
            <a:endParaRPr lang="ko-KR" altLang="en-US" sz="1500">
              <a:solidFill>
                <a:srgbClr val="464646"/>
              </a:solidFill>
              <a:latin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49747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9379E3C-2F2D-0777-D60F-D990C08AA06F}"/>
              </a:ext>
            </a:extLst>
          </p:cNvPr>
          <p:cNvSpPr txBox="1"/>
          <p:nvPr/>
        </p:nvSpPr>
        <p:spPr>
          <a:xfrm>
            <a:off x="762000" y="431800"/>
            <a:ext cx="11430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3400" b="1">
                <a:solidFill>
                  <a:srgbClr val="000000"/>
                </a:solidFill>
                <a:latin typeface="Malgun Gothic" panose="020B0503020000020004" pitchFamily="50" charset="-127"/>
              </a:rPr>
              <a:t>09</a:t>
            </a:r>
            <a:endParaRPr lang="ko-KR" altLang="en-US" sz="3400" b="1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DE672D-08EC-4940-8D92-5952EA9BE5F2}"/>
              </a:ext>
            </a:extLst>
          </p:cNvPr>
          <p:cNvSpPr txBox="1"/>
          <p:nvPr/>
        </p:nvSpPr>
        <p:spPr>
          <a:xfrm>
            <a:off x="2159000" y="533400"/>
            <a:ext cx="66040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00">
                <a:solidFill>
                  <a:srgbClr val="787878"/>
                </a:solidFill>
                <a:latin typeface="Malgun Gothic" panose="020B0503020000020004" pitchFamily="50" charset="-127"/>
              </a:rPr>
              <a:t>THE GAME REMEMBERS THE PLAYER</a:t>
            </a:r>
            <a:endParaRPr lang="ko-KR" altLang="en-US" sz="800">
              <a:solidFill>
                <a:srgbClr val="787878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6CF1849-0FA5-1C3C-8191-121D0AEEA8C3}"/>
              </a:ext>
            </a:extLst>
          </p:cNvPr>
          <p:cNvCxnSpPr/>
          <p:nvPr/>
        </p:nvCxnSpPr>
        <p:spPr>
          <a:xfrm>
            <a:off x="2159000" y="850900"/>
            <a:ext cx="9271000" cy="0"/>
          </a:xfrm>
          <a:prstGeom prst="line">
            <a:avLst/>
          </a:prstGeom>
          <a:ln w="9525">
            <a:solidFill>
              <a:srgbClr val="D2D2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8DEE8EA2-D954-6BCE-A1F9-724E9ED1731A}"/>
              </a:ext>
            </a:extLst>
          </p:cNvPr>
          <p:cNvSpPr txBox="1"/>
          <p:nvPr/>
        </p:nvSpPr>
        <p:spPr>
          <a:xfrm>
            <a:off x="762000" y="1168400"/>
            <a:ext cx="68580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3200" b="1">
                <a:solidFill>
                  <a:srgbClr val="121212"/>
                </a:solidFill>
                <a:latin typeface="Malgun Gothic" panose="020B0503020000020004" pitchFamily="50" charset="-127"/>
              </a:rPr>
              <a:t>PlayerMemoryLog</a:t>
            </a:r>
            <a:r>
              <a:rPr lang="ko-KR" altLang="en-US" sz="3200" b="1">
                <a:solidFill>
                  <a:srgbClr val="121212"/>
                </a:solidFill>
                <a:latin typeface="Malgun Gothic" panose="020B0503020000020004" pitchFamily="50" charset="-127"/>
              </a:rPr>
              <a:t>와 아카이브 심문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2F8A20-9E36-D368-A72F-D53292CCB751}"/>
              </a:ext>
            </a:extLst>
          </p:cNvPr>
          <p:cNvSpPr txBox="1"/>
          <p:nvPr/>
        </p:nvSpPr>
        <p:spPr>
          <a:xfrm>
            <a:off x="762000" y="1930400"/>
            <a:ext cx="86360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700">
                <a:solidFill>
                  <a:srgbClr val="464646"/>
                </a:solidFill>
                <a:latin typeface="Malgun Gothic" panose="020B0503020000020004" pitchFamily="50" charset="-127"/>
              </a:rPr>
              <a:t>선택뿐 아니라 복원 방식까지 기록합니다</a:t>
            </a:r>
            <a:r>
              <a:rPr lang="en-US" altLang="ko-KR" sz="1700">
                <a:solidFill>
                  <a:srgbClr val="464646"/>
                </a:solidFill>
                <a:latin typeface="Malgun Gothic" panose="020B0503020000020004" pitchFamily="50" charset="-127"/>
              </a:rPr>
              <a:t>.</a:t>
            </a:r>
            <a:endParaRPr lang="ko-KR" altLang="en-US" sz="1700">
              <a:solidFill>
                <a:srgbClr val="464646"/>
              </a:solidFill>
              <a:latin typeface="Malgun Gothic" panose="020B0503020000020004" pitchFamily="50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1435DDF-23C8-5450-8CBF-BA1853B08D7C}"/>
              </a:ext>
            </a:extLst>
          </p:cNvPr>
          <p:cNvSpPr/>
          <p:nvPr/>
        </p:nvSpPr>
        <p:spPr>
          <a:xfrm>
            <a:off x="7239000" y="1498600"/>
            <a:ext cx="4191000" cy="3429000"/>
          </a:xfrm>
          <a:prstGeom prst="rect">
            <a:avLst/>
          </a:prstGeom>
          <a:solidFill>
            <a:srgbClr val="F7F7F7"/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>
                <a:solidFill>
                  <a:srgbClr val="5A5A5A"/>
                </a:solidFill>
                <a:latin typeface="Malgun Gothic" panose="020B0503020000020004" pitchFamily="50" charset="-127"/>
              </a:rPr>
              <a:t>[</a:t>
            </a:r>
            <a:r>
              <a:rPr lang="ko-KR" altLang="en-US" sz="1600">
                <a:solidFill>
                  <a:srgbClr val="5A5A5A"/>
                </a:solidFill>
                <a:latin typeface="Malgun Gothic" panose="020B0503020000020004" pitchFamily="50" charset="-127"/>
              </a:rPr>
              <a:t>스크린샷 삽입 예정</a:t>
            </a:r>
            <a:r>
              <a:rPr lang="en-US" altLang="ko-KR" sz="1600">
                <a:solidFill>
                  <a:srgbClr val="5A5A5A"/>
                </a:solidFill>
                <a:latin typeface="Malgun Gothic" panose="020B0503020000020004" pitchFamily="50" charset="-127"/>
              </a:rPr>
              <a:t>: </a:t>
            </a:r>
            <a:r>
              <a:rPr lang="ko-KR" altLang="en-US" sz="1600">
                <a:solidFill>
                  <a:srgbClr val="5A5A5A"/>
                </a:solidFill>
                <a:latin typeface="Malgun Gothic" panose="020B0503020000020004" pitchFamily="50" charset="-127"/>
              </a:rPr>
              <a:t>아카이브 행동 기록과 심문 화면</a:t>
            </a:r>
            <a:r>
              <a:rPr lang="en-US" altLang="ko-KR" sz="1600">
                <a:solidFill>
                  <a:srgbClr val="5A5A5A"/>
                </a:solidFill>
                <a:latin typeface="Malgun Gothic" panose="020B0503020000020004" pitchFamily="50" charset="-127"/>
              </a:rPr>
              <a:t>]</a:t>
            </a:r>
            <a:endParaRPr lang="ko-KR" altLang="en-US" sz="1600">
              <a:solidFill>
                <a:srgbClr val="5A5A5A"/>
              </a:solidFill>
              <a:latin typeface="Malgun Gothic" panose="020B050302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B96EB6-EDE5-FF70-1829-9686F75342E1}"/>
              </a:ext>
            </a:extLst>
          </p:cNvPr>
          <p:cNvSpPr txBox="1"/>
          <p:nvPr/>
        </p:nvSpPr>
        <p:spPr>
          <a:xfrm>
            <a:off x="762000" y="3149600"/>
            <a:ext cx="5588000" cy="111569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500"/>
              </a:spcAft>
            </a:pPr>
            <a:r>
              <a:rPr lang="en-US" altLang="ko-KR" sz="1500">
                <a:solidFill>
                  <a:srgbClr val="2D2D2D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1500">
                <a:solidFill>
                  <a:srgbClr val="2D2D2D"/>
                </a:solidFill>
                <a:latin typeface="Malgun Gothic" panose="020B0503020000020004" pitchFamily="50" charset="-127"/>
              </a:rPr>
              <a:t>첫 선택과 처리 통계를 기록합니다</a:t>
            </a:r>
            <a:r>
              <a:rPr lang="en-US" altLang="ko-KR" sz="1500">
                <a:solidFill>
                  <a:srgbClr val="2D2D2D"/>
                </a:solidFill>
                <a:latin typeface="Malgun Gothic" panose="020B0503020000020004" pitchFamily="50" charset="-127"/>
              </a:rPr>
              <a:t>.</a:t>
            </a:r>
          </a:p>
          <a:p>
            <a:pPr>
              <a:spcAft>
                <a:spcPts val="500"/>
              </a:spcAft>
            </a:pPr>
            <a:r>
              <a:rPr lang="en-US" altLang="ko-KR" sz="1500">
                <a:solidFill>
                  <a:srgbClr val="2D2D2D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1500">
                <a:solidFill>
                  <a:srgbClr val="2D2D2D"/>
                </a:solidFill>
                <a:latin typeface="Malgun Gothic" panose="020B0503020000020004" pitchFamily="50" charset="-127"/>
              </a:rPr>
              <a:t>퍼즐 오답과 렌즈 해결 방식을 기록합니다</a:t>
            </a:r>
            <a:r>
              <a:rPr lang="en-US" altLang="ko-KR" sz="1500">
                <a:solidFill>
                  <a:srgbClr val="2D2D2D"/>
                </a:solidFill>
                <a:latin typeface="Malgun Gothic" panose="020B0503020000020004" pitchFamily="50" charset="-127"/>
              </a:rPr>
              <a:t>.</a:t>
            </a:r>
          </a:p>
          <a:p>
            <a:pPr>
              <a:spcAft>
                <a:spcPts val="500"/>
              </a:spcAft>
            </a:pPr>
            <a:r>
              <a:rPr lang="en-US" altLang="ko-KR" sz="1500">
                <a:solidFill>
                  <a:srgbClr val="2D2D2D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1500">
                <a:solidFill>
                  <a:srgbClr val="2D2D2D"/>
                </a:solidFill>
                <a:latin typeface="Malgun Gothic" panose="020B0503020000020004" pitchFamily="50" charset="-127"/>
              </a:rPr>
              <a:t>엔딩 전 아카이브가 수거원의 행동을 다시 묻습니다</a:t>
            </a:r>
            <a:r>
              <a:rPr lang="en-US" altLang="ko-KR" sz="1500">
                <a:solidFill>
                  <a:srgbClr val="2D2D2D"/>
                </a:solidFill>
                <a:latin typeface="Malgun Gothic" panose="020B0503020000020004" pitchFamily="50" charset="-127"/>
              </a:rPr>
              <a:t>.</a:t>
            </a:r>
          </a:p>
          <a:p>
            <a:pPr>
              <a:spcAft>
                <a:spcPts val="500"/>
              </a:spcAft>
            </a:pPr>
            <a:endParaRPr lang="ko-KR" altLang="en-US" sz="1500">
              <a:solidFill>
                <a:srgbClr val="2D2D2D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39284BA1-C42C-9AD2-782C-91402D015B3D}"/>
              </a:ext>
            </a:extLst>
          </p:cNvPr>
          <p:cNvCxnSpPr/>
          <p:nvPr/>
        </p:nvCxnSpPr>
        <p:spPr>
          <a:xfrm>
            <a:off x="7239000" y="5207000"/>
            <a:ext cx="41910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998F668-2678-01E7-E63E-BFB2A033B421}"/>
              </a:ext>
            </a:extLst>
          </p:cNvPr>
          <p:cNvSpPr txBox="1"/>
          <p:nvPr/>
        </p:nvSpPr>
        <p:spPr>
          <a:xfrm>
            <a:off x="7239000" y="5410200"/>
            <a:ext cx="381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000">
                <a:solidFill>
                  <a:srgbClr val="787878"/>
                </a:solidFill>
                <a:latin typeface="Malgun Gothic" panose="020B0503020000020004" pitchFamily="50" charset="-127"/>
              </a:rPr>
              <a:t>SCREENSHOT AREA</a:t>
            </a:r>
            <a:endParaRPr lang="ko-KR" altLang="en-US" sz="1000">
              <a:solidFill>
                <a:srgbClr val="787878"/>
              </a:solidFill>
              <a:latin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520584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411AEDF-58E9-4BA4-0470-65CD95874ECC}"/>
              </a:ext>
            </a:extLst>
          </p:cNvPr>
          <p:cNvSpPr txBox="1"/>
          <p:nvPr/>
        </p:nvSpPr>
        <p:spPr>
          <a:xfrm>
            <a:off x="762000" y="431800"/>
            <a:ext cx="11430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3400" b="1">
                <a:solidFill>
                  <a:srgbClr val="000000"/>
                </a:solidFill>
                <a:latin typeface="Malgun Gothic" panose="020B0503020000020004" pitchFamily="50" charset="-127"/>
              </a:rPr>
              <a:t>10</a:t>
            </a:r>
            <a:endParaRPr lang="ko-KR" altLang="en-US" sz="3400" b="1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92EF83-CC19-9195-7457-8A8EF705D083}"/>
              </a:ext>
            </a:extLst>
          </p:cNvPr>
          <p:cNvSpPr txBox="1"/>
          <p:nvPr/>
        </p:nvSpPr>
        <p:spPr>
          <a:xfrm>
            <a:off x="2159000" y="533400"/>
            <a:ext cx="66040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00">
                <a:solidFill>
                  <a:srgbClr val="787878"/>
                </a:solidFill>
                <a:latin typeface="Malgun Gothic" panose="020B0503020000020004" pitchFamily="50" charset="-127"/>
              </a:rPr>
              <a:t>SYSTEM STRUCTURE</a:t>
            </a:r>
            <a:endParaRPr lang="ko-KR" altLang="en-US" sz="800">
              <a:solidFill>
                <a:srgbClr val="787878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25CC28BE-E43C-A7F3-1A8B-91C881710D90}"/>
              </a:ext>
            </a:extLst>
          </p:cNvPr>
          <p:cNvCxnSpPr/>
          <p:nvPr/>
        </p:nvCxnSpPr>
        <p:spPr>
          <a:xfrm>
            <a:off x="2159000" y="850900"/>
            <a:ext cx="9271000" cy="0"/>
          </a:xfrm>
          <a:prstGeom prst="line">
            <a:avLst/>
          </a:prstGeom>
          <a:ln w="9525">
            <a:solidFill>
              <a:srgbClr val="D2D2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46B78F5-2C5A-AEC8-DC79-6A77F1C5259C}"/>
              </a:ext>
            </a:extLst>
          </p:cNvPr>
          <p:cNvSpPr txBox="1"/>
          <p:nvPr/>
        </p:nvSpPr>
        <p:spPr>
          <a:xfrm>
            <a:off x="762000" y="1168400"/>
            <a:ext cx="68580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3200" b="1">
                <a:solidFill>
                  <a:srgbClr val="121212"/>
                </a:solidFill>
                <a:latin typeface="Malgun Gothic" panose="020B0503020000020004" pitchFamily="50" charset="-127"/>
              </a:rPr>
              <a:t>시스템 </a:t>
            </a:r>
            <a:r>
              <a:rPr lang="en-US" altLang="ko-KR" sz="3200" b="1">
                <a:solidFill>
                  <a:srgbClr val="121212"/>
                </a:solidFill>
                <a:latin typeface="Malgun Gothic" panose="020B0503020000020004" pitchFamily="50" charset="-127"/>
              </a:rPr>
              <a:t>/ </a:t>
            </a:r>
            <a:r>
              <a:rPr lang="ko-KR" altLang="en-US" sz="3200" b="1">
                <a:solidFill>
                  <a:srgbClr val="121212"/>
                </a:solidFill>
                <a:latin typeface="Malgun Gothic" panose="020B0503020000020004" pitchFamily="50" charset="-127"/>
              </a:rPr>
              <a:t>클래스 구조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3DB922-417B-2DD1-0941-1C8951505642}"/>
              </a:ext>
            </a:extLst>
          </p:cNvPr>
          <p:cNvSpPr txBox="1"/>
          <p:nvPr/>
        </p:nvSpPr>
        <p:spPr>
          <a:xfrm>
            <a:off x="762000" y="1930400"/>
            <a:ext cx="86360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700">
                <a:solidFill>
                  <a:srgbClr val="464646"/>
                </a:solidFill>
                <a:latin typeface="Malgun Gothic" panose="020B0503020000020004" pitchFamily="50" charset="-127"/>
              </a:rPr>
              <a:t>제안서 요구사항을 주요 클래스로 나누어 구현했습니다</a:t>
            </a:r>
            <a:r>
              <a:rPr lang="en-US" altLang="ko-KR" sz="1700">
                <a:solidFill>
                  <a:srgbClr val="464646"/>
                </a:solidFill>
                <a:latin typeface="Malgun Gothic" panose="020B0503020000020004" pitchFamily="50" charset="-127"/>
              </a:rPr>
              <a:t>.</a:t>
            </a:r>
            <a:endParaRPr lang="ko-KR" altLang="en-US" sz="1700">
              <a:solidFill>
                <a:srgbClr val="464646"/>
              </a:solidFill>
              <a:latin typeface="Malgun Gothic" panose="020B0503020000020004" pitchFamily="50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0FC7C92-FBF2-75DC-4B05-1F6E7475F74F}"/>
              </a:ext>
            </a:extLst>
          </p:cNvPr>
          <p:cNvSpPr/>
          <p:nvPr/>
        </p:nvSpPr>
        <p:spPr>
          <a:xfrm>
            <a:off x="698500" y="2870200"/>
            <a:ext cx="10795000" cy="482600"/>
          </a:xfrm>
          <a:prstGeom prst="rect">
            <a:avLst/>
          </a:prstGeom>
          <a:solidFill>
            <a:srgbClr val="F5F5F5"/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F93D5F-FB03-6F99-6907-33CF39CF3504}"/>
              </a:ext>
            </a:extLst>
          </p:cNvPr>
          <p:cNvSpPr txBox="1"/>
          <p:nvPr/>
        </p:nvSpPr>
        <p:spPr>
          <a:xfrm>
            <a:off x="965200" y="3022600"/>
            <a:ext cx="2413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200" b="1">
                <a:solidFill>
                  <a:srgbClr val="000000"/>
                </a:solidFill>
                <a:latin typeface="Malgun Gothic" panose="020B0503020000020004" pitchFamily="50" charset="-127"/>
              </a:rPr>
              <a:t>구현 항목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7DAB6A-5E43-E2B8-22B7-03653BD4BCB5}"/>
              </a:ext>
            </a:extLst>
          </p:cNvPr>
          <p:cNvSpPr txBox="1"/>
          <p:nvPr/>
        </p:nvSpPr>
        <p:spPr>
          <a:xfrm>
            <a:off x="3708400" y="3022600"/>
            <a:ext cx="3175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200" b="1">
                <a:solidFill>
                  <a:srgbClr val="000000"/>
                </a:solidFill>
                <a:latin typeface="Malgun Gothic" panose="020B0503020000020004" pitchFamily="50" charset="-127"/>
              </a:rPr>
              <a:t>담당 클래스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F11A1AC-A2AE-DD9D-C189-C7636DC61B8D}"/>
              </a:ext>
            </a:extLst>
          </p:cNvPr>
          <p:cNvSpPr txBox="1"/>
          <p:nvPr/>
        </p:nvSpPr>
        <p:spPr>
          <a:xfrm>
            <a:off x="7493000" y="3022600"/>
            <a:ext cx="3048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200" b="1">
                <a:solidFill>
                  <a:srgbClr val="000000"/>
                </a:solidFill>
                <a:latin typeface="Malgun Gothic" panose="020B0503020000020004" pitchFamily="50" charset="-127"/>
              </a:rPr>
              <a:t>발표 포인트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5CD33B3-CCDD-969D-3BE6-5B0F68669AE7}"/>
              </a:ext>
            </a:extLst>
          </p:cNvPr>
          <p:cNvSpPr/>
          <p:nvPr/>
        </p:nvSpPr>
        <p:spPr>
          <a:xfrm>
            <a:off x="698500" y="3352800"/>
            <a:ext cx="10795000" cy="4826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CDCDC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EF57C3-39B7-524F-88EC-56536BCC09BE}"/>
              </a:ext>
            </a:extLst>
          </p:cNvPr>
          <p:cNvSpPr txBox="1"/>
          <p:nvPr/>
        </p:nvSpPr>
        <p:spPr>
          <a:xfrm>
            <a:off x="965200" y="3492500"/>
            <a:ext cx="2413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000" b="1">
                <a:solidFill>
                  <a:srgbClr val="000000"/>
                </a:solidFill>
                <a:latin typeface="Malgun Gothic" panose="020B0503020000020004" pitchFamily="50" charset="-127"/>
              </a:rPr>
              <a:t>이동 </a:t>
            </a:r>
            <a:r>
              <a:rPr lang="en-US" altLang="ko-KR" sz="1000" b="1">
                <a:solidFill>
                  <a:srgbClr val="000000"/>
                </a:solidFill>
                <a:latin typeface="Malgun Gothic" panose="020B0503020000020004" pitchFamily="50" charset="-127"/>
              </a:rPr>
              <a:t>/ </a:t>
            </a:r>
            <a:r>
              <a:rPr lang="ko-KR" altLang="en-US" sz="1000" b="1">
                <a:solidFill>
                  <a:srgbClr val="000000"/>
                </a:solidFill>
                <a:latin typeface="Malgun Gothic" panose="020B0503020000020004" pitchFamily="50" charset="-127"/>
              </a:rPr>
              <a:t>카메라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775331-F45C-30D2-59C7-1486652B2DAC}"/>
              </a:ext>
            </a:extLst>
          </p:cNvPr>
          <p:cNvSpPr txBox="1"/>
          <p:nvPr/>
        </p:nvSpPr>
        <p:spPr>
          <a:xfrm>
            <a:off x="3708400" y="3492500"/>
            <a:ext cx="3175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000">
                <a:solidFill>
                  <a:srgbClr val="3C3C3C"/>
                </a:solidFill>
                <a:latin typeface="Malgun Gothic" panose="020B0503020000020004" pitchFamily="50" charset="-127"/>
              </a:rPr>
              <a:t>ThirdPersonPlayer3D</a:t>
            </a:r>
            <a:endParaRPr lang="ko-KR" altLang="en-US" sz="1000">
              <a:solidFill>
                <a:srgbClr val="3C3C3C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EA40EF5-486E-9B1B-A69A-FA473FA09384}"/>
              </a:ext>
            </a:extLst>
          </p:cNvPr>
          <p:cNvSpPr txBox="1"/>
          <p:nvPr/>
        </p:nvSpPr>
        <p:spPr>
          <a:xfrm>
            <a:off x="7493000" y="3492500"/>
            <a:ext cx="3048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000">
                <a:solidFill>
                  <a:srgbClr val="3C3C3C"/>
                </a:solidFill>
                <a:latin typeface="Malgun Gothic" panose="020B0503020000020004" pitchFamily="50" charset="-127"/>
              </a:rPr>
              <a:t>3</a:t>
            </a:r>
            <a:r>
              <a:rPr lang="ko-KR" altLang="en-US" sz="1000">
                <a:solidFill>
                  <a:srgbClr val="3C3C3C"/>
                </a:solidFill>
                <a:latin typeface="Malgun Gothic" panose="020B0503020000020004" pitchFamily="50" charset="-127"/>
              </a:rPr>
              <a:t>인칭 탐험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A616388-7B09-31CC-DC5C-1DBEC5D2D294}"/>
              </a:ext>
            </a:extLst>
          </p:cNvPr>
          <p:cNvSpPr/>
          <p:nvPr/>
        </p:nvSpPr>
        <p:spPr>
          <a:xfrm>
            <a:off x="698500" y="3835400"/>
            <a:ext cx="10795000" cy="4826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CDCDC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86E28EA-F096-FAF9-5819-297225AB31A0}"/>
              </a:ext>
            </a:extLst>
          </p:cNvPr>
          <p:cNvSpPr txBox="1"/>
          <p:nvPr/>
        </p:nvSpPr>
        <p:spPr>
          <a:xfrm>
            <a:off x="965200" y="3975100"/>
            <a:ext cx="2413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000" b="1">
                <a:solidFill>
                  <a:srgbClr val="000000"/>
                </a:solidFill>
                <a:latin typeface="Malgun Gothic" panose="020B0503020000020004" pitchFamily="50" charset="-127"/>
              </a:rPr>
              <a:t>기억 수집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527092-E5BF-752D-177B-75ED4F525033}"/>
              </a:ext>
            </a:extLst>
          </p:cNvPr>
          <p:cNvSpPr txBox="1"/>
          <p:nvPr/>
        </p:nvSpPr>
        <p:spPr>
          <a:xfrm>
            <a:off x="3708400" y="3975100"/>
            <a:ext cx="3175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000">
                <a:solidFill>
                  <a:srgbClr val="3C3C3C"/>
                </a:solidFill>
                <a:latin typeface="Malgun Gothic" panose="020B0503020000020004" pitchFamily="50" charset="-127"/>
              </a:rPr>
              <a:t>MemoryManager3D</a:t>
            </a:r>
            <a:endParaRPr lang="ko-KR" altLang="en-US" sz="1000">
              <a:solidFill>
                <a:srgbClr val="3C3C3C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4F6CB4-550E-BDCA-035B-CF9DB7C005B1}"/>
              </a:ext>
            </a:extLst>
          </p:cNvPr>
          <p:cNvSpPr txBox="1"/>
          <p:nvPr/>
        </p:nvSpPr>
        <p:spPr>
          <a:xfrm>
            <a:off x="7493000" y="3975100"/>
            <a:ext cx="3048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000">
                <a:solidFill>
                  <a:srgbClr val="3C3C3C"/>
                </a:solidFill>
                <a:latin typeface="Malgun Gothic" panose="020B0503020000020004" pitchFamily="50" charset="-127"/>
              </a:rPr>
              <a:t>수집과 상태 관리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BDE9AAD-1A38-BEF1-DE06-6CB3D51AD64B}"/>
              </a:ext>
            </a:extLst>
          </p:cNvPr>
          <p:cNvSpPr/>
          <p:nvPr/>
        </p:nvSpPr>
        <p:spPr>
          <a:xfrm>
            <a:off x="698500" y="4318000"/>
            <a:ext cx="10795000" cy="4826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CDCDC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C1A678F-5769-AF86-27C7-282752A97109}"/>
              </a:ext>
            </a:extLst>
          </p:cNvPr>
          <p:cNvSpPr txBox="1"/>
          <p:nvPr/>
        </p:nvSpPr>
        <p:spPr>
          <a:xfrm>
            <a:off x="965200" y="4457700"/>
            <a:ext cx="2413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000" b="1">
                <a:solidFill>
                  <a:srgbClr val="000000"/>
                </a:solidFill>
                <a:latin typeface="Malgun Gothic" panose="020B0503020000020004" pitchFamily="50" charset="-127"/>
              </a:rPr>
              <a:t>기억 카드 </a:t>
            </a:r>
            <a:r>
              <a:rPr lang="en-US" altLang="ko-KR" sz="1000" b="1">
                <a:solidFill>
                  <a:srgbClr val="000000"/>
                </a:solidFill>
                <a:latin typeface="Malgun Gothic" panose="020B0503020000020004" pitchFamily="50" charset="-127"/>
              </a:rPr>
              <a:t>UI</a:t>
            </a:r>
            <a:endParaRPr lang="ko-KR" altLang="en-US" sz="1000" b="1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CEA61DC-6F3B-7897-6410-D658DC2E54A3}"/>
              </a:ext>
            </a:extLst>
          </p:cNvPr>
          <p:cNvSpPr txBox="1"/>
          <p:nvPr/>
        </p:nvSpPr>
        <p:spPr>
          <a:xfrm>
            <a:off x="3708400" y="4457700"/>
            <a:ext cx="3175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000">
                <a:solidFill>
                  <a:srgbClr val="3C3C3C"/>
                </a:solidFill>
                <a:latin typeface="Malgun Gothic" panose="020B0503020000020004" pitchFamily="50" charset="-127"/>
              </a:rPr>
              <a:t>UIManager3D</a:t>
            </a:r>
            <a:endParaRPr lang="ko-KR" altLang="en-US" sz="1000">
              <a:solidFill>
                <a:srgbClr val="3C3C3C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3B1AB0-37ED-4269-252C-EE313ECB0F00}"/>
              </a:ext>
            </a:extLst>
          </p:cNvPr>
          <p:cNvSpPr txBox="1"/>
          <p:nvPr/>
        </p:nvSpPr>
        <p:spPr>
          <a:xfrm>
            <a:off x="7493000" y="4457700"/>
            <a:ext cx="3048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000">
                <a:solidFill>
                  <a:srgbClr val="3C3C3C"/>
                </a:solidFill>
                <a:latin typeface="Malgun Gothic" panose="020B0503020000020004" pitchFamily="50" charset="-127"/>
              </a:rPr>
              <a:t>복원과 선택 화면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F21362CB-661E-D4CB-487F-2D10E2DC9E3D}"/>
              </a:ext>
            </a:extLst>
          </p:cNvPr>
          <p:cNvSpPr/>
          <p:nvPr/>
        </p:nvSpPr>
        <p:spPr>
          <a:xfrm>
            <a:off x="698500" y="4800600"/>
            <a:ext cx="10795000" cy="4826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CDCDC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140A9D4-4BB2-9A70-6B69-6FFC6190197F}"/>
              </a:ext>
            </a:extLst>
          </p:cNvPr>
          <p:cNvSpPr txBox="1"/>
          <p:nvPr/>
        </p:nvSpPr>
        <p:spPr>
          <a:xfrm>
            <a:off x="965200" y="4940300"/>
            <a:ext cx="2413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000" b="1">
                <a:solidFill>
                  <a:srgbClr val="000000"/>
                </a:solidFill>
                <a:latin typeface="Malgun Gothic" panose="020B0503020000020004" pitchFamily="50" charset="-127"/>
              </a:rPr>
              <a:t>렌즈 퍼즐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2D5B56-FBCC-7839-4966-2094594ABAA4}"/>
              </a:ext>
            </a:extLst>
          </p:cNvPr>
          <p:cNvSpPr txBox="1"/>
          <p:nvPr/>
        </p:nvSpPr>
        <p:spPr>
          <a:xfrm>
            <a:off x="3708400" y="4940300"/>
            <a:ext cx="3175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000">
                <a:solidFill>
                  <a:srgbClr val="3C3C3C"/>
                </a:solidFill>
                <a:latin typeface="Malgun Gothic" panose="020B0503020000020004" pitchFamily="50" charset="-127"/>
              </a:rPr>
              <a:t>MemoryLensEcho3D</a:t>
            </a:r>
            <a:endParaRPr lang="ko-KR" altLang="en-US" sz="1000">
              <a:solidFill>
                <a:srgbClr val="3C3C3C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553C390-3DB3-C6FC-0D45-86497D819CA4}"/>
              </a:ext>
            </a:extLst>
          </p:cNvPr>
          <p:cNvSpPr txBox="1"/>
          <p:nvPr/>
        </p:nvSpPr>
        <p:spPr>
          <a:xfrm>
            <a:off x="7493000" y="4940300"/>
            <a:ext cx="3048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000">
                <a:solidFill>
                  <a:srgbClr val="3C3C3C"/>
                </a:solidFill>
                <a:latin typeface="Malgun Gothic" panose="020B0503020000020004" pitchFamily="50" charset="-127"/>
              </a:rPr>
              <a:t>월드 스페이스 </a:t>
            </a:r>
            <a:r>
              <a:rPr lang="en-US" altLang="ko-KR" sz="1000">
                <a:solidFill>
                  <a:srgbClr val="3C3C3C"/>
                </a:solidFill>
                <a:latin typeface="Malgun Gothic" panose="020B0503020000020004" pitchFamily="50" charset="-127"/>
              </a:rPr>
              <a:t>UI</a:t>
            </a:r>
            <a:endParaRPr lang="ko-KR" altLang="en-US" sz="1000">
              <a:solidFill>
                <a:srgbClr val="3C3C3C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0645E9C-1F93-9237-01CC-51694AD9B2FD}"/>
              </a:ext>
            </a:extLst>
          </p:cNvPr>
          <p:cNvSpPr/>
          <p:nvPr/>
        </p:nvSpPr>
        <p:spPr>
          <a:xfrm>
            <a:off x="698500" y="5283200"/>
            <a:ext cx="10795000" cy="4826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CDCDC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D9ACE5-57DB-0E07-766F-E4AFB35820EF}"/>
              </a:ext>
            </a:extLst>
          </p:cNvPr>
          <p:cNvSpPr txBox="1"/>
          <p:nvPr/>
        </p:nvSpPr>
        <p:spPr>
          <a:xfrm>
            <a:off x="965200" y="5422900"/>
            <a:ext cx="2413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000" b="1">
                <a:solidFill>
                  <a:srgbClr val="000000"/>
                </a:solidFill>
                <a:latin typeface="Malgun Gothic" panose="020B0503020000020004" pitchFamily="50" charset="-127"/>
              </a:rPr>
              <a:t>행동 기록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71402B4-CA7F-7789-6332-FBB0C1360974}"/>
              </a:ext>
            </a:extLst>
          </p:cNvPr>
          <p:cNvSpPr txBox="1"/>
          <p:nvPr/>
        </p:nvSpPr>
        <p:spPr>
          <a:xfrm>
            <a:off x="3708400" y="5422900"/>
            <a:ext cx="3175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000">
                <a:solidFill>
                  <a:srgbClr val="3C3C3C"/>
                </a:solidFill>
                <a:latin typeface="Malgun Gothic" panose="020B0503020000020004" pitchFamily="50" charset="-127"/>
              </a:rPr>
              <a:t>PlayerMemoryLog3D</a:t>
            </a:r>
            <a:endParaRPr lang="ko-KR" altLang="en-US" sz="1000">
              <a:solidFill>
                <a:srgbClr val="3C3C3C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2A9F0DE-DA41-DA0D-224F-D9314EE27F54}"/>
              </a:ext>
            </a:extLst>
          </p:cNvPr>
          <p:cNvSpPr txBox="1"/>
          <p:nvPr/>
        </p:nvSpPr>
        <p:spPr>
          <a:xfrm>
            <a:off x="7493000" y="5422900"/>
            <a:ext cx="3048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000">
                <a:solidFill>
                  <a:srgbClr val="3C3C3C"/>
                </a:solidFill>
                <a:latin typeface="Malgun Gothic" panose="020B0503020000020004" pitchFamily="50" charset="-127"/>
              </a:rPr>
              <a:t>선택과 해결 방식 기록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9DE11BE1-B9AC-0E22-24E0-A2D7CF309D4B}"/>
              </a:ext>
            </a:extLst>
          </p:cNvPr>
          <p:cNvSpPr/>
          <p:nvPr/>
        </p:nvSpPr>
        <p:spPr>
          <a:xfrm>
            <a:off x="698500" y="5765800"/>
            <a:ext cx="10795000" cy="4826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CDCDC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4E16C14-3A7E-6DEA-AB57-5C791F94DDE4}"/>
              </a:ext>
            </a:extLst>
          </p:cNvPr>
          <p:cNvSpPr txBox="1"/>
          <p:nvPr/>
        </p:nvSpPr>
        <p:spPr>
          <a:xfrm>
            <a:off x="965200" y="5905500"/>
            <a:ext cx="2413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000" b="1">
                <a:solidFill>
                  <a:srgbClr val="000000"/>
                </a:solidFill>
                <a:latin typeface="Malgun Gothic" panose="020B0503020000020004" pitchFamily="50" charset="-127"/>
              </a:rPr>
              <a:t>엔딩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739C2B9-B5E4-F579-6438-A7BE69AAD3F0}"/>
              </a:ext>
            </a:extLst>
          </p:cNvPr>
          <p:cNvSpPr txBox="1"/>
          <p:nvPr/>
        </p:nvSpPr>
        <p:spPr>
          <a:xfrm>
            <a:off x="3708400" y="5905500"/>
            <a:ext cx="3175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000">
                <a:solidFill>
                  <a:srgbClr val="3C3C3C"/>
                </a:solidFill>
                <a:latin typeface="Malgun Gothic" panose="020B0503020000020004" pitchFamily="50" charset="-127"/>
              </a:rPr>
              <a:t>ArchiveTerminal3D</a:t>
            </a:r>
            <a:endParaRPr lang="ko-KR" altLang="en-US" sz="1000">
              <a:solidFill>
                <a:srgbClr val="3C3C3C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AF9ADF7-78E3-2AC8-92AF-07715069E0B6}"/>
              </a:ext>
            </a:extLst>
          </p:cNvPr>
          <p:cNvSpPr txBox="1"/>
          <p:nvPr/>
        </p:nvSpPr>
        <p:spPr>
          <a:xfrm>
            <a:off x="7493000" y="5905500"/>
            <a:ext cx="3048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000">
                <a:solidFill>
                  <a:srgbClr val="3C3C3C"/>
                </a:solidFill>
                <a:latin typeface="Malgun Gothic" panose="020B0503020000020004" pitchFamily="50" charset="-127"/>
              </a:rPr>
              <a:t>중앙 아카이브 진입</a:t>
            </a:r>
          </a:p>
        </p:txBody>
      </p:sp>
    </p:spTree>
    <p:extLst>
      <p:ext uri="{BB962C8B-B14F-4D97-AF65-F5344CB8AC3E}">
        <p14:creationId xmlns:p14="http://schemas.microsoft.com/office/powerpoint/2010/main" val="37547334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F491EC-605B-6CD2-E2C7-D0586BB3FCB4}"/>
              </a:ext>
            </a:extLst>
          </p:cNvPr>
          <p:cNvSpPr txBox="1"/>
          <p:nvPr/>
        </p:nvSpPr>
        <p:spPr>
          <a:xfrm>
            <a:off x="762000" y="431800"/>
            <a:ext cx="11430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3400" b="1">
                <a:solidFill>
                  <a:srgbClr val="000000"/>
                </a:solidFill>
                <a:latin typeface="Malgun Gothic" panose="020B0503020000020004" pitchFamily="50" charset="-127"/>
              </a:rPr>
              <a:t>11</a:t>
            </a:r>
            <a:endParaRPr lang="ko-KR" altLang="en-US" sz="3400" b="1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15E018F-8CEE-A06D-46BA-B660813DBF5D}"/>
              </a:ext>
            </a:extLst>
          </p:cNvPr>
          <p:cNvSpPr txBox="1"/>
          <p:nvPr/>
        </p:nvSpPr>
        <p:spPr>
          <a:xfrm>
            <a:off x="2159000" y="533400"/>
            <a:ext cx="66040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00">
                <a:solidFill>
                  <a:srgbClr val="787878"/>
                </a:solidFill>
                <a:latin typeface="Malgun Gothic" panose="020B0503020000020004" pitchFamily="50" charset="-127"/>
              </a:rPr>
              <a:t>2 MIN 30 SEC DEMO</a:t>
            </a:r>
            <a:endParaRPr lang="ko-KR" altLang="en-US" sz="800">
              <a:solidFill>
                <a:srgbClr val="787878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B3F0D392-A787-034A-D724-B89A42DCDCD1}"/>
              </a:ext>
            </a:extLst>
          </p:cNvPr>
          <p:cNvCxnSpPr/>
          <p:nvPr/>
        </p:nvCxnSpPr>
        <p:spPr>
          <a:xfrm>
            <a:off x="2159000" y="850900"/>
            <a:ext cx="9271000" cy="0"/>
          </a:xfrm>
          <a:prstGeom prst="line">
            <a:avLst/>
          </a:prstGeom>
          <a:ln w="9525">
            <a:solidFill>
              <a:srgbClr val="D2D2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D981F99-714E-A0C4-D398-B14FBE0EE5A1}"/>
              </a:ext>
            </a:extLst>
          </p:cNvPr>
          <p:cNvSpPr txBox="1"/>
          <p:nvPr/>
        </p:nvSpPr>
        <p:spPr>
          <a:xfrm>
            <a:off x="762000" y="1168400"/>
            <a:ext cx="68580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3200" b="1">
                <a:solidFill>
                  <a:srgbClr val="121212"/>
                </a:solidFill>
                <a:latin typeface="Malgun Gothic" panose="020B0503020000020004" pitchFamily="50" charset="-127"/>
              </a:rPr>
              <a:t>시연 영상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4E65D6-BCD3-B0CC-915F-F8C3350094A8}"/>
              </a:ext>
            </a:extLst>
          </p:cNvPr>
          <p:cNvSpPr txBox="1"/>
          <p:nvPr/>
        </p:nvSpPr>
        <p:spPr>
          <a:xfrm>
            <a:off x="762000" y="1930400"/>
            <a:ext cx="86360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700">
                <a:solidFill>
                  <a:srgbClr val="464646"/>
                </a:solidFill>
                <a:latin typeface="Malgun Gothic" panose="020B0503020000020004" pitchFamily="50" charset="-127"/>
              </a:rPr>
              <a:t>회수</a:t>
            </a:r>
            <a:r>
              <a:rPr lang="en-US" altLang="ko-KR" sz="1700">
                <a:solidFill>
                  <a:srgbClr val="464646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700">
                <a:solidFill>
                  <a:srgbClr val="464646"/>
                </a:solidFill>
                <a:latin typeface="Malgun Gothic" panose="020B0503020000020004" pitchFamily="50" charset="-127"/>
              </a:rPr>
              <a:t>렌즈 퍼즐</a:t>
            </a:r>
            <a:r>
              <a:rPr lang="en-US" altLang="ko-KR" sz="1700">
                <a:solidFill>
                  <a:srgbClr val="464646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700">
                <a:solidFill>
                  <a:srgbClr val="464646"/>
                </a:solidFill>
                <a:latin typeface="Malgun Gothic" panose="020B0503020000020004" pitchFamily="50" charset="-127"/>
              </a:rPr>
              <a:t>선택</a:t>
            </a:r>
            <a:r>
              <a:rPr lang="en-US" altLang="ko-KR" sz="1700">
                <a:solidFill>
                  <a:srgbClr val="464646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700">
                <a:solidFill>
                  <a:srgbClr val="464646"/>
                </a:solidFill>
                <a:latin typeface="Malgun Gothic" panose="020B0503020000020004" pitchFamily="50" charset="-127"/>
              </a:rPr>
              <a:t>아카이브 심문</a:t>
            </a:r>
            <a:r>
              <a:rPr lang="en-US" altLang="ko-KR" sz="1700">
                <a:solidFill>
                  <a:srgbClr val="464646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700">
                <a:solidFill>
                  <a:srgbClr val="464646"/>
                </a:solidFill>
                <a:latin typeface="Malgun Gothic" panose="020B0503020000020004" pitchFamily="50" charset="-127"/>
              </a:rPr>
              <a:t>엔딩까지 한 번에 보여줍니다</a:t>
            </a:r>
            <a:r>
              <a:rPr lang="en-US" altLang="ko-KR" sz="1700">
                <a:solidFill>
                  <a:srgbClr val="464646"/>
                </a:solidFill>
                <a:latin typeface="Malgun Gothic" panose="020B0503020000020004" pitchFamily="50" charset="-127"/>
              </a:rPr>
              <a:t>.</a:t>
            </a:r>
            <a:endParaRPr lang="ko-KR" altLang="en-US" sz="1700">
              <a:solidFill>
                <a:srgbClr val="464646"/>
              </a:solidFill>
              <a:latin typeface="Malgun Gothic" panose="020B0503020000020004" pitchFamily="50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508DEFC-316A-E8BD-4B25-DB503C55A8FA}"/>
              </a:ext>
            </a:extLst>
          </p:cNvPr>
          <p:cNvSpPr/>
          <p:nvPr/>
        </p:nvSpPr>
        <p:spPr>
          <a:xfrm>
            <a:off x="1333500" y="2717800"/>
            <a:ext cx="9525000" cy="2921000"/>
          </a:xfrm>
          <a:prstGeom prst="rect">
            <a:avLst/>
          </a:prstGeom>
          <a:solidFill>
            <a:srgbClr val="F7F7F7"/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>
                <a:solidFill>
                  <a:srgbClr val="5A5A5A"/>
                </a:solidFill>
                <a:latin typeface="Malgun Gothic" panose="020B0503020000020004" pitchFamily="50" charset="-127"/>
              </a:rPr>
              <a:t>[</a:t>
            </a:r>
            <a:r>
              <a:rPr lang="ko-KR" altLang="en-US" sz="1600">
                <a:solidFill>
                  <a:srgbClr val="5A5A5A"/>
                </a:solidFill>
                <a:latin typeface="Malgun Gothic" panose="020B0503020000020004" pitchFamily="50" charset="-127"/>
              </a:rPr>
              <a:t>시연 영상 삽입 예정</a:t>
            </a:r>
            <a:r>
              <a:rPr lang="en-US" altLang="ko-KR" sz="1600">
                <a:solidFill>
                  <a:srgbClr val="5A5A5A"/>
                </a:solidFill>
                <a:latin typeface="Malgun Gothic" panose="020B0503020000020004" pitchFamily="50" charset="-127"/>
              </a:rPr>
              <a:t>: 2</a:t>
            </a:r>
            <a:r>
              <a:rPr lang="ko-KR" altLang="en-US" sz="1600">
                <a:solidFill>
                  <a:srgbClr val="5A5A5A"/>
                </a:solidFill>
                <a:latin typeface="Malgun Gothic" panose="020B0503020000020004" pitchFamily="50" charset="-127"/>
              </a:rPr>
              <a:t>분 </a:t>
            </a:r>
            <a:r>
              <a:rPr lang="en-US" altLang="ko-KR" sz="1600">
                <a:solidFill>
                  <a:srgbClr val="5A5A5A"/>
                </a:solidFill>
                <a:latin typeface="Malgun Gothic" panose="020B0503020000020004" pitchFamily="50" charset="-127"/>
              </a:rPr>
              <a:t>30</a:t>
            </a:r>
            <a:r>
              <a:rPr lang="ko-KR" altLang="en-US" sz="1600">
                <a:solidFill>
                  <a:srgbClr val="5A5A5A"/>
                </a:solidFill>
                <a:latin typeface="Malgun Gothic" panose="020B0503020000020004" pitchFamily="50" charset="-127"/>
              </a:rPr>
              <a:t>초</a:t>
            </a:r>
            <a:r>
              <a:rPr lang="en-US" altLang="ko-KR" sz="1600">
                <a:solidFill>
                  <a:srgbClr val="5A5A5A"/>
                </a:solidFill>
                <a:latin typeface="Malgun Gothic" panose="020B0503020000020004" pitchFamily="50" charset="-127"/>
              </a:rPr>
              <a:t>]</a:t>
            </a:r>
            <a:endParaRPr lang="ko-KR" altLang="en-US" sz="1600">
              <a:solidFill>
                <a:srgbClr val="5A5A5A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B4CCA760-2F26-CDBA-A629-D78AD7E37671}"/>
              </a:ext>
            </a:extLst>
          </p:cNvPr>
          <p:cNvCxnSpPr/>
          <p:nvPr/>
        </p:nvCxnSpPr>
        <p:spPr>
          <a:xfrm>
            <a:off x="1333500" y="5892800"/>
            <a:ext cx="95250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DD82FA6-2D98-FAAC-4014-10A165AC4D09}"/>
              </a:ext>
            </a:extLst>
          </p:cNvPr>
          <p:cNvSpPr txBox="1"/>
          <p:nvPr/>
        </p:nvSpPr>
        <p:spPr>
          <a:xfrm>
            <a:off x="1333500" y="6096000"/>
            <a:ext cx="9525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1500">
                <a:solidFill>
                  <a:srgbClr val="464646"/>
                </a:solidFill>
                <a:latin typeface="Malgun Gothic" panose="020B0503020000020004" pitchFamily="50" charset="-127"/>
              </a:rPr>
              <a:t>회수 </a:t>
            </a:r>
            <a:r>
              <a:rPr lang="en-US" altLang="ko-KR" sz="1500">
                <a:solidFill>
                  <a:srgbClr val="464646"/>
                </a:solidFill>
                <a:latin typeface="Malgun Gothic" panose="020B0503020000020004" pitchFamily="50" charset="-127"/>
              </a:rPr>
              <a:t>-&gt; </a:t>
            </a:r>
            <a:r>
              <a:rPr lang="ko-KR" altLang="en-US" sz="1500">
                <a:solidFill>
                  <a:srgbClr val="464646"/>
                </a:solidFill>
                <a:latin typeface="Malgun Gothic" panose="020B0503020000020004" pitchFamily="50" charset="-127"/>
              </a:rPr>
              <a:t>렌즈 퍼즐 </a:t>
            </a:r>
            <a:r>
              <a:rPr lang="en-US" altLang="ko-KR" sz="1500">
                <a:solidFill>
                  <a:srgbClr val="464646"/>
                </a:solidFill>
                <a:latin typeface="Malgun Gothic" panose="020B0503020000020004" pitchFamily="50" charset="-127"/>
              </a:rPr>
              <a:t>3</a:t>
            </a:r>
            <a:r>
              <a:rPr lang="ko-KR" altLang="en-US" sz="1500">
                <a:solidFill>
                  <a:srgbClr val="464646"/>
                </a:solidFill>
                <a:latin typeface="Malgun Gothic" panose="020B0503020000020004" pitchFamily="50" charset="-127"/>
              </a:rPr>
              <a:t>종 </a:t>
            </a:r>
            <a:r>
              <a:rPr lang="en-US" altLang="ko-KR" sz="1500">
                <a:solidFill>
                  <a:srgbClr val="464646"/>
                </a:solidFill>
                <a:latin typeface="Malgun Gothic" panose="020B0503020000020004" pitchFamily="50" charset="-127"/>
              </a:rPr>
              <a:t>-&gt; </a:t>
            </a:r>
            <a:r>
              <a:rPr lang="ko-KR" altLang="en-US" sz="1500">
                <a:solidFill>
                  <a:srgbClr val="464646"/>
                </a:solidFill>
                <a:latin typeface="Malgun Gothic" panose="020B0503020000020004" pitchFamily="50" charset="-127"/>
              </a:rPr>
              <a:t>선택 </a:t>
            </a:r>
            <a:r>
              <a:rPr lang="en-US" altLang="ko-KR" sz="1500">
                <a:solidFill>
                  <a:srgbClr val="464646"/>
                </a:solidFill>
                <a:latin typeface="Malgun Gothic" panose="020B0503020000020004" pitchFamily="50" charset="-127"/>
              </a:rPr>
              <a:t>-&gt; </a:t>
            </a:r>
            <a:r>
              <a:rPr lang="ko-KR" altLang="en-US" sz="1500">
                <a:solidFill>
                  <a:srgbClr val="464646"/>
                </a:solidFill>
                <a:latin typeface="Malgun Gothic" panose="020B0503020000020004" pitchFamily="50" charset="-127"/>
              </a:rPr>
              <a:t>아카이브 심문 </a:t>
            </a:r>
            <a:r>
              <a:rPr lang="en-US" altLang="ko-KR" sz="1500">
                <a:solidFill>
                  <a:srgbClr val="464646"/>
                </a:solidFill>
                <a:latin typeface="Malgun Gothic" panose="020B0503020000020004" pitchFamily="50" charset="-127"/>
              </a:rPr>
              <a:t>-&gt; </a:t>
            </a:r>
            <a:r>
              <a:rPr lang="ko-KR" altLang="en-US" sz="1500">
                <a:solidFill>
                  <a:srgbClr val="464646"/>
                </a:solidFill>
                <a:latin typeface="Malgun Gothic" panose="020B0503020000020004" pitchFamily="50" charset="-127"/>
              </a:rPr>
              <a:t>엔딩</a:t>
            </a:r>
          </a:p>
        </p:txBody>
      </p:sp>
    </p:spTree>
    <p:extLst>
      <p:ext uri="{BB962C8B-B14F-4D97-AF65-F5344CB8AC3E}">
        <p14:creationId xmlns:p14="http://schemas.microsoft.com/office/powerpoint/2010/main" val="35936489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27793E-96A5-3195-FBC5-8FE492A66BF8}"/>
              </a:ext>
            </a:extLst>
          </p:cNvPr>
          <p:cNvSpPr txBox="1"/>
          <p:nvPr/>
        </p:nvSpPr>
        <p:spPr>
          <a:xfrm>
            <a:off x="762000" y="431800"/>
            <a:ext cx="11430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3400" b="1">
                <a:solidFill>
                  <a:srgbClr val="000000"/>
                </a:solidFill>
                <a:latin typeface="Malgun Gothic" panose="020B0503020000020004" pitchFamily="50" charset="-127"/>
              </a:rPr>
              <a:t>12</a:t>
            </a:r>
            <a:endParaRPr lang="ko-KR" altLang="en-US" sz="3400" b="1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F70529-D01C-E629-3C52-08DC599228B2}"/>
              </a:ext>
            </a:extLst>
          </p:cNvPr>
          <p:cNvSpPr txBox="1"/>
          <p:nvPr/>
        </p:nvSpPr>
        <p:spPr>
          <a:xfrm>
            <a:off x="2159000" y="533400"/>
            <a:ext cx="66040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00">
                <a:solidFill>
                  <a:srgbClr val="787878"/>
                </a:solidFill>
                <a:latin typeface="Malgun Gothic" panose="020B0503020000020004" pitchFamily="50" charset="-127"/>
              </a:rPr>
              <a:t>LIMITATIONS &amp; NEXT STEPS</a:t>
            </a:r>
            <a:endParaRPr lang="ko-KR" altLang="en-US" sz="800">
              <a:solidFill>
                <a:srgbClr val="787878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D5597ACC-4AAA-EDDD-0544-9D3DF56AF6EC}"/>
              </a:ext>
            </a:extLst>
          </p:cNvPr>
          <p:cNvCxnSpPr/>
          <p:nvPr/>
        </p:nvCxnSpPr>
        <p:spPr>
          <a:xfrm>
            <a:off x="2159000" y="850900"/>
            <a:ext cx="9271000" cy="0"/>
          </a:xfrm>
          <a:prstGeom prst="line">
            <a:avLst/>
          </a:prstGeom>
          <a:ln w="9525">
            <a:solidFill>
              <a:srgbClr val="D2D2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139936CA-B673-C3B0-97B9-4C678EC915F6}"/>
              </a:ext>
            </a:extLst>
          </p:cNvPr>
          <p:cNvSpPr txBox="1"/>
          <p:nvPr/>
        </p:nvSpPr>
        <p:spPr>
          <a:xfrm>
            <a:off x="762000" y="1168400"/>
            <a:ext cx="68580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3200" b="1">
                <a:solidFill>
                  <a:srgbClr val="121212"/>
                </a:solidFill>
                <a:latin typeface="Malgun Gothic" panose="020B0503020000020004" pitchFamily="50" charset="-127"/>
              </a:rPr>
              <a:t>한계점 및 개선 방향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7C21D6-FC99-D202-2746-75BF43F63384}"/>
              </a:ext>
            </a:extLst>
          </p:cNvPr>
          <p:cNvSpPr txBox="1"/>
          <p:nvPr/>
        </p:nvSpPr>
        <p:spPr>
          <a:xfrm>
            <a:off x="762000" y="1930400"/>
            <a:ext cx="86360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700">
                <a:solidFill>
                  <a:srgbClr val="464646"/>
                </a:solidFill>
                <a:latin typeface="Malgun Gothic" panose="020B0503020000020004" pitchFamily="50" charset="-127"/>
              </a:rPr>
              <a:t>발표 안정성을 위해 핵심 경험을 우선 완성했습니다</a:t>
            </a:r>
            <a:r>
              <a:rPr lang="en-US" altLang="ko-KR" sz="1700">
                <a:solidFill>
                  <a:srgbClr val="464646"/>
                </a:solidFill>
                <a:latin typeface="Malgun Gothic" panose="020B0503020000020004" pitchFamily="50" charset="-127"/>
              </a:rPr>
              <a:t>.</a:t>
            </a:r>
            <a:endParaRPr lang="ko-KR" altLang="en-US" sz="1700">
              <a:solidFill>
                <a:srgbClr val="464646"/>
              </a:solidFill>
              <a:latin typeface="Malgun Gothic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FD167C-CBAD-FEDB-C755-4E1D47B9325F}"/>
              </a:ext>
            </a:extLst>
          </p:cNvPr>
          <p:cNvSpPr txBox="1"/>
          <p:nvPr/>
        </p:nvSpPr>
        <p:spPr>
          <a:xfrm>
            <a:off x="1143000" y="3251200"/>
            <a:ext cx="279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2000" b="1">
                <a:solidFill>
                  <a:srgbClr val="000000"/>
                </a:solidFill>
                <a:latin typeface="Malgun Gothic" panose="020B0503020000020004" pitchFamily="50" charset="-127"/>
              </a:rPr>
              <a:t>구현 완료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A193E26-144E-F23F-CA73-016D198D4890}"/>
              </a:ext>
            </a:extLst>
          </p:cNvPr>
          <p:cNvCxnSpPr/>
          <p:nvPr/>
        </p:nvCxnSpPr>
        <p:spPr>
          <a:xfrm>
            <a:off x="1397000" y="3860800"/>
            <a:ext cx="22860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94B28A7-31C6-9A88-4668-7FEE47A66181}"/>
              </a:ext>
            </a:extLst>
          </p:cNvPr>
          <p:cNvSpPr txBox="1"/>
          <p:nvPr/>
        </p:nvSpPr>
        <p:spPr>
          <a:xfrm>
            <a:off x="1143000" y="4140200"/>
            <a:ext cx="279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1200">
                <a:solidFill>
                  <a:srgbClr val="464646"/>
                </a:solidFill>
                <a:latin typeface="Malgun Gothic" panose="020B0503020000020004" pitchFamily="50" charset="-127"/>
              </a:rPr>
              <a:t>구현 완료</a:t>
            </a:r>
            <a:r>
              <a:rPr lang="en-US" altLang="ko-KR" sz="1200">
                <a:solidFill>
                  <a:srgbClr val="464646"/>
                </a:solidFill>
                <a:latin typeface="Malgun Gothic" panose="020B0503020000020004" pitchFamily="50" charset="-127"/>
              </a:rPr>
              <a:t>: </a:t>
            </a:r>
            <a:r>
              <a:rPr lang="ko-KR" altLang="en-US" sz="1200">
                <a:solidFill>
                  <a:srgbClr val="464646"/>
                </a:solidFill>
                <a:latin typeface="Malgun Gothic" panose="020B0503020000020004" pitchFamily="50" charset="-127"/>
              </a:rPr>
              <a:t>이동</a:t>
            </a:r>
            <a:r>
              <a:rPr lang="en-US" altLang="ko-KR" sz="1200">
                <a:solidFill>
                  <a:srgbClr val="464646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200">
                <a:solidFill>
                  <a:srgbClr val="464646"/>
                </a:solidFill>
                <a:latin typeface="Malgun Gothic" panose="020B0503020000020004" pitchFamily="50" charset="-127"/>
              </a:rPr>
              <a:t>회수</a:t>
            </a:r>
            <a:r>
              <a:rPr lang="en-US" altLang="ko-KR" sz="1200">
                <a:solidFill>
                  <a:srgbClr val="464646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200">
                <a:solidFill>
                  <a:srgbClr val="464646"/>
                </a:solidFill>
                <a:latin typeface="Malgun Gothic" panose="020B0503020000020004" pitchFamily="50" charset="-127"/>
              </a:rPr>
              <a:t>복원</a:t>
            </a:r>
            <a:r>
              <a:rPr lang="en-US" altLang="ko-KR" sz="1200">
                <a:solidFill>
                  <a:srgbClr val="464646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200">
                <a:solidFill>
                  <a:srgbClr val="464646"/>
                </a:solidFill>
                <a:latin typeface="Malgun Gothic" panose="020B0503020000020004" pitchFamily="50" charset="-127"/>
              </a:rPr>
              <a:t>선택</a:t>
            </a:r>
            <a:r>
              <a:rPr lang="en-US" altLang="ko-KR" sz="1200">
                <a:solidFill>
                  <a:srgbClr val="464646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200">
                <a:solidFill>
                  <a:srgbClr val="464646"/>
                </a:solidFill>
                <a:latin typeface="Malgun Gothic" panose="020B0503020000020004" pitchFamily="50" charset="-127"/>
              </a:rPr>
              <a:t>엔딩</a:t>
            </a:r>
            <a:r>
              <a:rPr lang="en-US" altLang="ko-KR" sz="1200">
                <a:solidFill>
                  <a:srgbClr val="464646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200">
                <a:solidFill>
                  <a:srgbClr val="464646"/>
                </a:solidFill>
                <a:latin typeface="Malgun Gothic" panose="020B0503020000020004" pitchFamily="50" charset="-127"/>
              </a:rPr>
              <a:t>렌즈 퍼즐</a:t>
            </a:r>
            <a:r>
              <a:rPr lang="en-US" altLang="ko-KR" sz="1200">
                <a:solidFill>
                  <a:srgbClr val="464646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200">
                <a:solidFill>
                  <a:srgbClr val="464646"/>
                </a:solidFill>
                <a:latin typeface="Malgun Gothic" panose="020B0503020000020004" pitchFamily="50" charset="-127"/>
              </a:rPr>
              <a:t>행동 기록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5C2ABF-EF2C-4E1D-6D5E-96B4A756399C}"/>
              </a:ext>
            </a:extLst>
          </p:cNvPr>
          <p:cNvSpPr txBox="1"/>
          <p:nvPr/>
        </p:nvSpPr>
        <p:spPr>
          <a:xfrm>
            <a:off x="4572000" y="3251200"/>
            <a:ext cx="279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2000" b="1">
                <a:solidFill>
                  <a:srgbClr val="000000"/>
                </a:solidFill>
                <a:latin typeface="Malgun Gothic" panose="020B0503020000020004" pitchFamily="50" charset="-127"/>
              </a:rPr>
              <a:t>초기 계획 조정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D5A92FC-5163-ECCB-A027-3147BE1A1CC0}"/>
              </a:ext>
            </a:extLst>
          </p:cNvPr>
          <p:cNvCxnSpPr/>
          <p:nvPr/>
        </p:nvCxnSpPr>
        <p:spPr>
          <a:xfrm>
            <a:off x="4826000" y="3860800"/>
            <a:ext cx="22860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9BF5ABC-D69B-09E2-809F-779D8BAABFAB}"/>
              </a:ext>
            </a:extLst>
          </p:cNvPr>
          <p:cNvSpPr txBox="1"/>
          <p:nvPr/>
        </p:nvSpPr>
        <p:spPr>
          <a:xfrm>
            <a:off x="4572000" y="4140200"/>
            <a:ext cx="279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1200">
                <a:solidFill>
                  <a:srgbClr val="464646"/>
                </a:solidFill>
                <a:latin typeface="Malgun Gothic" panose="020B0503020000020004" pitchFamily="50" charset="-127"/>
              </a:rPr>
              <a:t>초기 계획 조정</a:t>
            </a:r>
            <a:r>
              <a:rPr lang="en-US" altLang="ko-KR" sz="1200">
                <a:solidFill>
                  <a:srgbClr val="464646"/>
                </a:solidFill>
                <a:latin typeface="Malgun Gothic" panose="020B0503020000020004" pitchFamily="50" charset="-127"/>
              </a:rPr>
              <a:t>: </a:t>
            </a:r>
            <a:r>
              <a:rPr lang="ko-KR" altLang="en-US" sz="1200">
                <a:solidFill>
                  <a:srgbClr val="464646"/>
                </a:solidFill>
                <a:latin typeface="Malgun Gothic" panose="020B0503020000020004" pitchFamily="50" charset="-127"/>
              </a:rPr>
              <a:t>낮</a:t>
            </a:r>
            <a:r>
              <a:rPr lang="en-US" altLang="ko-KR" sz="1200">
                <a:solidFill>
                  <a:srgbClr val="464646"/>
                </a:solidFill>
                <a:latin typeface="Malgun Gothic" panose="020B0503020000020004" pitchFamily="50" charset="-127"/>
              </a:rPr>
              <a:t>/</a:t>
            </a:r>
            <a:r>
              <a:rPr lang="ko-KR" altLang="en-US" sz="1200">
                <a:solidFill>
                  <a:srgbClr val="464646"/>
                </a:solidFill>
                <a:latin typeface="Malgun Gothic" panose="020B0503020000020004" pitchFamily="50" charset="-127"/>
              </a:rPr>
              <a:t>밤 시간대와 도시 분위기 변화는 우선순위에서 축소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E54668-4B68-10D9-1DF2-389D710DDA0B}"/>
              </a:ext>
            </a:extLst>
          </p:cNvPr>
          <p:cNvSpPr txBox="1"/>
          <p:nvPr/>
        </p:nvSpPr>
        <p:spPr>
          <a:xfrm>
            <a:off x="8001000" y="3251200"/>
            <a:ext cx="279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2000" b="1">
                <a:solidFill>
                  <a:srgbClr val="000000"/>
                </a:solidFill>
                <a:latin typeface="Malgun Gothic" panose="020B0503020000020004" pitchFamily="50" charset="-127"/>
              </a:rPr>
              <a:t>향후 개선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A1EAF643-28C7-F4A6-B27D-BE2FA179471E}"/>
              </a:ext>
            </a:extLst>
          </p:cNvPr>
          <p:cNvCxnSpPr/>
          <p:nvPr/>
        </p:nvCxnSpPr>
        <p:spPr>
          <a:xfrm>
            <a:off x="8255000" y="3860800"/>
            <a:ext cx="22860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F4501F6-95AA-E3D3-A575-71F6C541D4B3}"/>
              </a:ext>
            </a:extLst>
          </p:cNvPr>
          <p:cNvSpPr txBox="1"/>
          <p:nvPr/>
        </p:nvSpPr>
        <p:spPr>
          <a:xfrm>
            <a:off x="8001000" y="4140200"/>
            <a:ext cx="279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1200">
                <a:solidFill>
                  <a:srgbClr val="464646"/>
                </a:solidFill>
                <a:latin typeface="Malgun Gothic" panose="020B0503020000020004" pitchFamily="50" charset="-127"/>
              </a:rPr>
              <a:t>향후 개선</a:t>
            </a:r>
            <a:r>
              <a:rPr lang="en-US" altLang="ko-KR" sz="1200">
                <a:solidFill>
                  <a:srgbClr val="464646"/>
                </a:solidFill>
                <a:latin typeface="Malgun Gothic" panose="020B0503020000020004" pitchFamily="50" charset="-127"/>
              </a:rPr>
              <a:t>: </a:t>
            </a:r>
            <a:r>
              <a:rPr lang="ko-KR" altLang="en-US" sz="1200">
                <a:solidFill>
                  <a:srgbClr val="464646"/>
                </a:solidFill>
                <a:latin typeface="Malgun Gothic" panose="020B0503020000020004" pitchFamily="50" charset="-127"/>
              </a:rPr>
              <a:t>기억 데이터 확장</a:t>
            </a:r>
            <a:r>
              <a:rPr lang="en-US" altLang="ko-KR" sz="1200">
                <a:solidFill>
                  <a:srgbClr val="464646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200">
                <a:solidFill>
                  <a:srgbClr val="464646"/>
                </a:solidFill>
                <a:latin typeface="Malgun Gothic" panose="020B0503020000020004" pitchFamily="50" charset="-127"/>
              </a:rPr>
              <a:t>사운드 연출</a:t>
            </a:r>
            <a:r>
              <a:rPr lang="en-US" altLang="ko-KR" sz="1200">
                <a:solidFill>
                  <a:srgbClr val="464646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200">
                <a:solidFill>
                  <a:srgbClr val="464646"/>
                </a:solidFill>
                <a:latin typeface="Malgun Gothic" panose="020B0503020000020004" pitchFamily="50" charset="-127"/>
              </a:rPr>
              <a:t>폐도시 디테일 강화</a:t>
            </a:r>
          </a:p>
        </p:txBody>
      </p:sp>
    </p:spTree>
    <p:extLst>
      <p:ext uri="{BB962C8B-B14F-4D97-AF65-F5344CB8AC3E}">
        <p14:creationId xmlns:p14="http://schemas.microsoft.com/office/powerpoint/2010/main" val="15640651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C85C9C-A23F-ED13-A35D-37C492747B64}"/>
              </a:ext>
            </a:extLst>
          </p:cNvPr>
          <p:cNvSpPr txBox="1"/>
          <p:nvPr/>
        </p:nvSpPr>
        <p:spPr>
          <a:xfrm>
            <a:off x="762000" y="431800"/>
            <a:ext cx="11430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3400" b="1">
                <a:solidFill>
                  <a:srgbClr val="000000"/>
                </a:solidFill>
                <a:latin typeface="Malgun Gothic" panose="020B0503020000020004" pitchFamily="50" charset="-127"/>
              </a:rPr>
              <a:t>13</a:t>
            </a:r>
            <a:endParaRPr lang="ko-KR" altLang="en-US" sz="3400" b="1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196CB0-0B69-81DD-644F-97B46C2E2767}"/>
              </a:ext>
            </a:extLst>
          </p:cNvPr>
          <p:cNvSpPr txBox="1"/>
          <p:nvPr/>
        </p:nvSpPr>
        <p:spPr>
          <a:xfrm>
            <a:off x="2159000" y="533400"/>
            <a:ext cx="66040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00">
                <a:solidFill>
                  <a:srgbClr val="787878"/>
                </a:solidFill>
                <a:latin typeface="Malgun Gothic" panose="020B0503020000020004" pitchFamily="50" charset="-127"/>
              </a:rPr>
              <a:t>CONCLUSION</a:t>
            </a:r>
            <a:endParaRPr lang="ko-KR" altLang="en-US" sz="800">
              <a:solidFill>
                <a:srgbClr val="787878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240433A6-60EE-7CDE-47D1-09E4AB4EF25C}"/>
              </a:ext>
            </a:extLst>
          </p:cNvPr>
          <p:cNvCxnSpPr/>
          <p:nvPr/>
        </p:nvCxnSpPr>
        <p:spPr>
          <a:xfrm>
            <a:off x="2159000" y="850900"/>
            <a:ext cx="9271000" cy="0"/>
          </a:xfrm>
          <a:prstGeom prst="line">
            <a:avLst/>
          </a:prstGeom>
          <a:ln w="9525">
            <a:solidFill>
              <a:srgbClr val="D2D2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A2C8F01-5EF1-E8AB-7470-2337EFD50A6C}"/>
              </a:ext>
            </a:extLst>
          </p:cNvPr>
          <p:cNvSpPr txBox="1"/>
          <p:nvPr/>
        </p:nvSpPr>
        <p:spPr>
          <a:xfrm>
            <a:off x="1016000" y="1168400"/>
            <a:ext cx="10160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2000" b="1">
                <a:solidFill>
                  <a:srgbClr val="000000"/>
                </a:solidFill>
                <a:latin typeface="Malgun Gothic" panose="020B0503020000020004" pitchFamily="50" charset="-127"/>
              </a:rPr>
              <a:t>마무리 </a:t>
            </a:r>
            <a:r>
              <a:rPr lang="en-US" altLang="ko-KR" sz="2000" b="1">
                <a:solidFill>
                  <a:srgbClr val="000000"/>
                </a:solidFill>
                <a:latin typeface="Malgun Gothic" panose="020B0503020000020004" pitchFamily="50" charset="-127"/>
              </a:rPr>
              <a:t>/ Q&amp;A</a:t>
            </a:r>
            <a:endParaRPr lang="ko-KR" altLang="en-US" sz="2000" b="1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C5C354-8CBD-1D31-9313-446306D3EC66}"/>
              </a:ext>
            </a:extLst>
          </p:cNvPr>
          <p:cNvSpPr txBox="1"/>
          <p:nvPr/>
        </p:nvSpPr>
        <p:spPr>
          <a:xfrm>
            <a:off x="1016000" y="1778000"/>
            <a:ext cx="10160000" cy="98488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3200" b="1">
                <a:solidFill>
                  <a:srgbClr val="000000"/>
                </a:solidFill>
                <a:latin typeface="Malgun Gothic" panose="020B0503020000020004" pitchFamily="50" charset="-127"/>
              </a:rPr>
              <a:t>"</a:t>
            </a:r>
            <a:r>
              <a:rPr lang="ko-KR" altLang="en-US" sz="3200" b="1">
                <a:solidFill>
                  <a:srgbClr val="000000"/>
                </a:solidFill>
                <a:latin typeface="Malgun Gothic" panose="020B0503020000020004" pitchFamily="50" charset="-127"/>
              </a:rPr>
              <a:t>기억을 복원하는 게임에서</a:t>
            </a:r>
            <a:r>
              <a:rPr lang="en-US" altLang="ko-KR" sz="3200" b="1">
                <a:solidFill>
                  <a:srgbClr val="000000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3200" b="1">
                <a:solidFill>
                  <a:srgbClr val="000000"/>
                </a:solidFill>
                <a:latin typeface="Malgun Gothic" panose="020B0503020000020004" pitchFamily="50" charset="-127"/>
              </a:rPr>
              <a:t>플레이어를 기억하는 게임으로</a:t>
            </a:r>
            <a:r>
              <a:rPr lang="en-US" altLang="ko-KR" sz="3200" b="1">
                <a:solidFill>
                  <a:srgbClr val="000000"/>
                </a:solidFill>
                <a:latin typeface="Malgun Gothic" panose="020B0503020000020004" pitchFamily="50" charset="-127"/>
              </a:rPr>
              <a:t>."</a:t>
            </a:r>
            <a:endParaRPr lang="ko-KR" altLang="en-US" sz="3200" b="1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DF841F5E-6A9E-9F74-F306-C9AD2086B6A7}"/>
              </a:ext>
            </a:extLst>
          </p:cNvPr>
          <p:cNvCxnSpPr/>
          <p:nvPr/>
        </p:nvCxnSpPr>
        <p:spPr>
          <a:xfrm>
            <a:off x="2286000" y="3429000"/>
            <a:ext cx="76200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BA2E0C4-D1D6-6F00-B73E-72F5CADD2681}"/>
              </a:ext>
            </a:extLst>
          </p:cNvPr>
          <p:cNvSpPr txBox="1"/>
          <p:nvPr/>
        </p:nvSpPr>
        <p:spPr>
          <a:xfrm>
            <a:off x="2032000" y="3962400"/>
            <a:ext cx="8128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2000">
                <a:solidFill>
                  <a:srgbClr val="282828"/>
                </a:solidFill>
                <a:latin typeface="Malgun Gothic" panose="020B0503020000020004" pitchFamily="50" charset="-127"/>
              </a:rPr>
              <a:t>기록창을 기억 렌즈로 전환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EBA03D-1937-5942-8E93-A8FE322DCF8F}"/>
              </a:ext>
            </a:extLst>
          </p:cNvPr>
          <p:cNvSpPr txBox="1"/>
          <p:nvPr/>
        </p:nvSpPr>
        <p:spPr>
          <a:xfrm>
            <a:off x="2032000" y="4572000"/>
            <a:ext cx="8128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2000">
                <a:solidFill>
                  <a:srgbClr val="282828"/>
                </a:solidFill>
                <a:latin typeface="Malgun Gothic" panose="020B0503020000020004" pitchFamily="50" charset="-127"/>
              </a:rPr>
              <a:t>선택이 기억의 형태를 바꿈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EBFA73-846C-CADA-8A95-62F76B8F90BF}"/>
              </a:ext>
            </a:extLst>
          </p:cNvPr>
          <p:cNvSpPr txBox="1"/>
          <p:nvPr/>
        </p:nvSpPr>
        <p:spPr>
          <a:xfrm>
            <a:off x="2032000" y="5181600"/>
            <a:ext cx="8128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2000">
                <a:solidFill>
                  <a:srgbClr val="282828"/>
                </a:solidFill>
                <a:latin typeface="Malgun Gothic" panose="020B0503020000020004" pitchFamily="50" charset="-127"/>
              </a:rPr>
              <a:t>마지막에는 게임이 플레이어의 행동을 기억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F19118-CC65-CEC8-7675-D32FB8DED180}"/>
              </a:ext>
            </a:extLst>
          </p:cNvPr>
          <p:cNvSpPr txBox="1"/>
          <p:nvPr/>
        </p:nvSpPr>
        <p:spPr>
          <a:xfrm>
            <a:off x="9779000" y="5918200"/>
            <a:ext cx="152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ko-KR" b="1">
                <a:solidFill>
                  <a:srgbClr val="000000"/>
                </a:solidFill>
                <a:latin typeface="Malgun Gothic" panose="020B0503020000020004" pitchFamily="50" charset="-127"/>
              </a:rPr>
              <a:t>Q&amp;A</a:t>
            </a:r>
            <a:endParaRPr lang="ko-KR" altLang="en-US" b="1">
              <a:solidFill>
                <a:srgbClr val="000000"/>
              </a:solidFill>
              <a:latin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07074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590</Words>
  <Application>Microsoft Office PowerPoint</Application>
  <PresentationFormat>사용자 지정</PresentationFormat>
  <Paragraphs>153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7" baseType="lpstr">
      <vt:lpstr>Malgun Gothic</vt:lpstr>
      <vt:lpstr>Malgun Gothic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동준 신</dc:creator>
  <cp:lastModifiedBy>동준 신</cp:lastModifiedBy>
  <cp:revision>1</cp:revision>
  <dcterms:created xsi:type="dcterms:W3CDTF">2026-06-11T18:16:39Z</dcterms:created>
  <dcterms:modified xsi:type="dcterms:W3CDTF">2026-06-11T18:16:39Z</dcterms:modified>
</cp:coreProperties>
</file>