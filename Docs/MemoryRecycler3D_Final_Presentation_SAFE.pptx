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425DB-3826-8F03-6CEC-6C1838D2A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B24B88-DD1D-C870-2D42-6FBA368976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2428C-DEB6-8FD2-D323-0202244B3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A8BD2C-6819-A98B-6FCD-B948A81A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2772B-F36A-6269-2CE9-4914EEF8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58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9C2DA-315E-EFBF-AB4B-FF86AC07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E1F292-8FE7-5641-3E74-1D6ED7BE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F44CC6-DD19-7EF8-4D56-29A230952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38485-EE71-C7FD-05EF-7C6AD74E1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137203-17AB-0070-4F0C-CFDAE84EB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9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A38FD-8B2C-EA83-D26C-C3E07E369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1AB1A2-510D-4313-4FA8-407409C92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F6DD65-817F-62A6-F454-65ADF280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5F06E-5F44-1003-32C0-3F6D55269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CBC05-486D-BB58-95C7-6A341A39F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0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E39C5-9342-E9EA-727C-8CE42276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ACCE6-7DE6-E35E-0D69-752D76521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D8F27F-B4ED-1549-CE10-1CBD27BCF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E36D8-2C78-DF36-512F-B5DEEEEAF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6F076A-384A-325F-FA4F-B19C4027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53461A-CEE6-505C-5CF2-8FD1E9799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0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60962-91D3-ECF4-0654-782ABD783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F99453-8739-96C2-C582-A6FA5870FB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E00446-6FA8-BFD7-63C5-347983E53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53E51E7-BC80-C225-6578-371E53265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B50D876-5FF4-0A09-A9CC-1E08DB86A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DA3933C-795F-2325-BF09-7C2A05536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D6E8C0-1ADC-975E-468B-BDBA3AE3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7D8C61-A829-F964-04A3-7F6013E0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384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0D72B7-7411-83D6-F4BC-9F9C3FB9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D7D28E-C27F-E400-6CD5-60551E8D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99ED27-CB48-A286-AB01-30DB56D0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20DEB9-735E-D978-2CF0-CC5FB55A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232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5DC237D-82CD-5528-3E81-CEB7CCC6D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B77E81-862A-3EDF-C5B0-936BA113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180D2F-D8C0-3FC3-CE2F-E062A6E29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99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1A451-0D73-B8DD-A3C0-CC6A96E13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AA4DCF-B3B8-3820-C203-678EB4CE4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97910CA-539D-4431-CC8C-F96AAF92A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510DFA-8B09-4526-6EAD-3BD99698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5CFFC9-F0BA-6CFD-C036-33C6986F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23E21A-FC76-4D74-6680-6C4EEF981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975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64367C-0442-357F-DC03-16ABD6768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9E03D5-774C-5331-34D4-5795CEB07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3E2618-3284-E5C3-FEEF-D7B6939018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FAF5C-8B19-BB13-FEC2-8731A19B1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FD8378-7B0E-AF45-DC4B-6FE17C7B6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DC6A6B-DBCF-D535-8474-022958FEA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3552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631307-A393-7CB2-990E-84654441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424F25-7C15-F839-4275-7EF9B98E0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6DD99-A81F-2985-BDAD-D76500F3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E9FECD-F61D-D094-03B7-572ABD460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4DACC-49CD-508C-28E4-5F92704D3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666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7EA49D-6B59-8AB4-A442-EF0F8FE38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4DDB4F-FC48-EDB2-1ECB-D4366C2A0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CA6E5D-98B3-731D-7BAE-3403242C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7AF4D-B1EE-6ABE-41E3-200DFE6A2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5231D9-0EC5-7C01-3545-C1CA93F2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31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6EBD6F8-A71D-CB98-13E0-4541DD16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9C9415-BC88-6E30-8EA0-E8C53C11F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4CED40-509E-7A6B-7909-00EE7BD5A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03069-4697-4EAB-A1E2-D7CD4C665578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A0810-D9CC-8661-3C23-D41D0303E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A81BB8-2BED-B8AA-2E0E-CB7299D34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87EBE-D3F2-46A3-8DB4-C2F60EFBE3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23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AF79BE-B959-23E1-AAC6-58B6D3D70554}"/>
              </a:ext>
            </a:extLst>
          </p:cNvPr>
          <p:cNvSpPr txBox="1"/>
          <p:nvPr/>
        </p:nvSpPr>
        <p:spPr>
          <a:xfrm>
            <a:off x="762000" y="6858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00">
                <a:solidFill>
                  <a:srgbClr val="696969"/>
                </a:solidFill>
                <a:latin typeface="Malgun Gothic" panose="020B0503020000020004" pitchFamily="50" charset="-127"/>
              </a:rPr>
              <a:t>MEMORY RECYCLER 3D | FINAL PRESENTATION</a:t>
            </a:r>
            <a:endParaRPr lang="ko-KR" altLang="en-US" sz="900">
              <a:solidFill>
                <a:srgbClr val="696969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AE5AA5F-E208-6BC8-9026-974DEADDDBA5}"/>
              </a:ext>
            </a:extLst>
          </p:cNvPr>
          <p:cNvCxnSpPr/>
          <p:nvPr/>
        </p:nvCxnSpPr>
        <p:spPr>
          <a:xfrm>
            <a:off x="762000" y="1041400"/>
            <a:ext cx="1066800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B973013-164A-3E29-EA63-7E37DDB41A24}"/>
              </a:ext>
            </a:extLst>
          </p:cNvPr>
          <p:cNvSpPr txBox="1"/>
          <p:nvPr/>
        </p:nvSpPr>
        <p:spPr>
          <a:xfrm>
            <a:off x="762000" y="1574800"/>
            <a:ext cx="8636000" cy="7694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5000" b="1">
                <a:solidFill>
                  <a:srgbClr val="000000"/>
                </a:solidFill>
                <a:latin typeface="Malgun Gothic" panose="020B0503020000020004" pitchFamily="50" charset="-127"/>
              </a:rPr>
              <a:t>Memory Recycler 3D</a:t>
            </a:r>
            <a:endParaRPr lang="ko-KR" altLang="en-US" sz="5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2FDD7-23C1-2F93-C70F-514E327984CC}"/>
              </a:ext>
            </a:extLst>
          </p:cNvPr>
          <p:cNvSpPr txBox="1"/>
          <p:nvPr/>
        </p:nvSpPr>
        <p:spPr>
          <a:xfrm>
            <a:off x="762000" y="2768600"/>
            <a:ext cx="838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900">
                <a:solidFill>
                  <a:srgbClr val="373737"/>
                </a:solidFill>
                <a:latin typeface="Malgun Gothic" panose="020B0503020000020004" pitchFamily="50" charset="-127"/>
              </a:rPr>
              <a:t>기록창을 기억 렌즈로 바꾼 </a:t>
            </a:r>
            <a:r>
              <a:rPr lang="en-US" altLang="ko-KR" sz="1900">
                <a:solidFill>
                  <a:srgbClr val="373737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900">
                <a:solidFill>
                  <a:srgbClr val="373737"/>
                </a:solidFill>
                <a:latin typeface="Malgun Gothic" panose="020B0503020000020004" pitchFamily="50" charset="-127"/>
              </a:rPr>
              <a:t>폐도시 탐험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7E9E79-8E9F-030A-6651-FCA3BA170DB3}"/>
              </a:ext>
            </a:extLst>
          </p:cNvPr>
          <p:cNvSpPr txBox="1"/>
          <p:nvPr/>
        </p:nvSpPr>
        <p:spPr>
          <a:xfrm>
            <a:off x="762000" y="3860800"/>
            <a:ext cx="59690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Unity 6 URP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기반 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프로토타입</a:t>
            </a:r>
          </a:p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기억 구체 수집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복원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처리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아카이브 엔딩</a:t>
            </a:r>
          </a:p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7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분 발표 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/ 2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분 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30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초 시연 영상</a:t>
            </a:r>
          </a:p>
          <a:p>
            <a:pPr>
              <a:spcAft>
                <a:spcPts val="700"/>
              </a:spcAft>
            </a:pPr>
            <a:endParaRPr lang="ko-KR" altLang="en-US" sz="1600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C3E54-6BFB-C926-E9C8-6309943BED79}"/>
              </a:ext>
            </a:extLst>
          </p:cNvPr>
          <p:cNvSpPr txBox="1"/>
          <p:nvPr/>
        </p:nvSpPr>
        <p:spPr>
          <a:xfrm>
            <a:off x="9677400" y="4368800"/>
            <a:ext cx="1778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2800" b="1">
                <a:solidFill>
                  <a:srgbClr val="000000"/>
                </a:solidFill>
                <a:latin typeface="Malgun Gothic" panose="020B0503020000020004" pitchFamily="50" charset="-127"/>
              </a:rPr>
              <a:t>FINAL</a:t>
            </a:r>
          </a:p>
          <a:p>
            <a:pPr algn="r"/>
            <a:r>
              <a:rPr lang="en-US" altLang="ko-KR" sz="2800" b="1">
                <a:solidFill>
                  <a:srgbClr val="000000"/>
                </a:solidFill>
                <a:latin typeface="Malgun Gothic" panose="020B0503020000020004" pitchFamily="50" charset="-127"/>
              </a:rPr>
              <a:t>PRESENTATION</a:t>
            </a:r>
            <a:endParaRPr lang="ko-KR" altLang="en-US" sz="2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AF9F084-E990-0B87-3314-6F0E5C551C95}"/>
              </a:ext>
            </a:extLst>
          </p:cNvPr>
          <p:cNvCxnSpPr/>
          <p:nvPr/>
        </p:nvCxnSpPr>
        <p:spPr>
          <a:xfrm>
            <a:off x="9398000" y="4089400"/>
            <a:ext cx="2057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F98C843-992F-5F09-24EA-D2B1312FB3A6}"/>
              </a:ext>
            </a:extLst>
          </p:cNvPr>
          <p:cNvCxnSpPr/>
          <p:nvPr/>
        </p:nvCxnSpPr>
        <p:spPr>
          <a:xfrm>
            <a:off x="9398000" y="5664200"/>
            <a:ext cx="2057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A40E03-331C-9818-F91E-F90FE7DDB33B}"/>
              </a:ext>
            </a:extLst>
          </p:cNvPr>
          <p:cNvSpPr txBox="1"/>
          <p:nvPr/>
        </p:nvSpPr>
        <p:spPr>
          <a:xfrm>
            <a:off x="10693400" y="660400"/>
            <a:ext cx="81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sz="3000" b="1">
                <a:solidFill>
                  <a:srgbClr val="000000"/>
                </a:solidFill>
                <a:latin typeface="Malgun Gothic" panose="020B0503020000020004" pitchFamily="50" charset="-127"/>
              </a:rPr>
              <a:t>01</a:t>
            </a:r>
            <a:endParaRPr lang="ko-KR" altLang="en-US" sz="3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099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28285D-741B-CD31-A56F-F0696C511EF7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02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CDE468-88A9-656F-7EAB-49579FC950D2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WHY THIS PROJECT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59B8D5D-5066-4E3A-87B5-4055AA615770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626C798-11BF-A304-2838-E1F6A84B55B5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개발 배경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376409-515A-9DB3-1716-7780ECB0C9F8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문장 퍼즐을 공간 속 행동으로 바꾸고 싶었습니다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4E02698-1064-3A45-0413-FDA6CB481C09}"/>
              </a:ext>
            </a:extLst>
          </p:cNvPr>
          <p:cNvCxnSpPr/>
          <p:nvPr/>
        </p:nvCxnSpPr>
        <p:spPr>
          <a:xfrm>
            <a:off x="762000" y="2794000"/>
            <a:ext cx="10668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0565E85-FFD1-F6D1-4953-198D0D5DB616}"/>
              </a:ext>
            </a:extLst>
          </p:cNvPr>
          <p:cNvSpPr txBox="1"/>
          <p:nvPr/>
        </p:nvSpPr>
        <p:spPr>
          <a:xfrm>
            <a:off x="1143000" y="3225800"/>
            <a:ext cx="9906000" cy="137730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>
                <a:solidFill>
                  <a:srgbClr val="2D2D2D"/>
                </a:solidFill>
                <a:latin typeface="Malgun Gothic" panose="020B0503020000020004" pitchFamily="50" charset="-127"/>
              </a:rPr>
              <a:t>기존 문장 순서 맞추기는 </a:t>
            </a: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>
                <a:solidFill>
                  <a:srgbClr val="2D2D2D"/>
                </a:solidFill>
                <a:latin typeface="Malgun Gothic" panose="020B0503020000020004" pitchFamily="50" charset="-127"/>
              </a:rPr>
              <a:t>안에서만 끝나는 느낌이 강했습니다</a:t>
            </a: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>
                <a:solidFill>
                  <a:srgbClr val="2D2D2D"/>
                </a:solidFill>
                <a:latin typeface="Malgun Gothic" panose="020B0503020000020004" pitchFamily="50" charset="-127"/>
              </a:rPr>
              <a:t>폐도시라는 </a:t>
            </a: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>
                <a:solidFill>
                  <a:srgbClr val="2D2D2D"/>
                </a:solidFill>
                <a:latin typeface="Malgun Gothic" panose="020B0503020000020004" pitchFamily="50" charset="-127"/>
              </a:rPr>
              <a:t>공간을 퍼즐 풀이 자체에 더 적극적으로 사용하고자 했습니다</a:t>
            </a: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>
                <a:solidFill>
                  <a:srgbClr val="2D2D2D"/>
                </a:solidFill>
                <a:latin typeface="Malgun Gothic" panose="020B0503020000020004" pitchFamily="50" charset="-127"/>
              </a:rPr>
              <a:t>플레이어의 선택이 엔딩에서 다시 해석되는 구조를 목표로 했습니다</a:t>
            </a:r>
            <a:r>
              <a:rPr lang="en-US" altLang="ko-KR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endParaRPr lang="ko-KR" altLang="en-US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626BF2-6A08-D9A7-3453-320D7030C7D8}"/>
              </a:ext>
            </a:extLst>
          </p:cNvPr>
          <p:cNvSpPr txBox="1"/>
          <p:nvPr/>
        </p:nvSpPr>
        <p:spPr>
          <a:xfrm>
            <a:off x="1143000" y="5486400"/>
            <a:ext cx="825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UI 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안에서 맞추는 퍼즐을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공간 위에 겹쳐 읽는 퍼즐로 전환했습니다</a:t>
            </a:r>
            <a:r>
              <a:rPr lang="en-US" altLang="ko-KR" sz="1600" b="1">
                <a:solidFill>
                  <a:srgbClr val="000000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189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1DD8AB-6634-D8E0-B965-CF20DCC96FCF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03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247BC-0923-D631-274C-F3BFF5734F9E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GAME CONCEPT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4524DBE-5FBD-E195-27BA-DD8F8D46CDC5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29DEBA1-55C7-DC57-27B2-8ABC070FD3F6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게임 콘셉트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3D4597-F5FD-B9B1-818A-C7B9314059D4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폐도시의 기억을 수거하고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복원하고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처리합니다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928191B-28C5-98BD-D595-5891FAF1F20B}"/>
              </a:ext>
            </a:extLst>
          </p:cNvPr>
          <p:cNvSpPr/>
          <p:nvPr/>
        </p:nvSpPr>
        <p:spPr>
          <a:xfrm>
            <a:off x="7239000" y="1498600"/>
            <a:ext cx="4191000" cy="3429000"/>
          </a:xfrm>
          <a:prstGeom prst="rect">
            <a:avLst/>
          </a:prstGeom>
          <a:solidFill>
            <a:srgbClr val="F7F7F7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스크린샷 삽입 예정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폐도시 전경과 플레이어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]</a:t>
            </a:r>
            <a:endParaRPr lang="ko-KR" altLang="en-US" sz="1600">
              <a:solidFill>
                <a:srgbClr val="5A5A5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259B6A-34FC-58EF-F637-737331D36D8B}"/>
              </a:ext>
            </a:extLst>
          </p:cNvPr>
          <p:cNvSpPr txBox="1"/>
          <p:nvPr/>
        </p:nvSpPr>
        <p:spPr>
          <a:xfrm>
            <a:off x="762000" y="3022600"/>
            <a:ext cx="5588000" cy="1838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플레이어는 수거원으로서 푸른 기억 구체를 회수합니다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복원된 기억은 보존 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삭제 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재가공 중 하나로 처리됩니다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처리 결과는 중앙 아카이브 엔딩과 행동 기록에 반영됩니다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endParaRPr lang="ko-KR" altLang="en-US" sz="1700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9186BA6-9BE8-D874-663E-63FF1D7FEE3C}"/>
              </a:ext>
            </a:extLst>
          </p:cNvPr>
          <p:cNvCxnSpPr/>
          <p:nvPr/>
        </p:nvCxnSpPr>
        <p:spPr>
          <a:xfrm>
            <a:off x="7239000" y="5207000"/>
            <a:ext cx="4191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DA1675C-97CE-2963-14F1-A8C0F5C41EDD}"/>
              </a:ext>
            </a:extLst>
          </p:cNvPr>
          <p:cNvSpPr txBox="1"/>
          <p:nvPr/>
        </p:nvSpPr>
        <p:spPr>
          <a:xfrm>
            <a:off x="7239000" y="54102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787878"/>
                </a:solidFill>
                <a:latin typeface="Malgun Gothic" panose="020B0503020000020004" pitchFamily="50" charset="-127"/>
              </a:rPr>
              <a:t>SCREENSHOT AREA</a:t>
            </a:r>
            <a:endParaRPr lang="ko-KR" altLang="en-US" sz="10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143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F74E0-EA05-1374-0B67-A49EB7AC8EFF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04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A57F4A-FA8A-7119-79B0-3BA88E2E68FA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MEMORY LENS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4070751-004D-1ED7-E784-54D4537579B0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5E7E22A-CFE6-3DDA-066E-103D57A2DE5B}"/>
              </a:ext>
            </a:extLst>
          </p:cNvPr>
          <p:cNvSpPr txBox="1"/>
          <p:nvPr/>
        </p:nvSpPr>
        <p:spPr>
          <a:xfrm>
            <a:off x="762000" y="1371600"/>
            <a:ext cx="4572000" cy="135421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4400" b="1">
                <a:solidFill>
                  <a:srgbClr val="000000"/>
                </a:solidFill>
                <a:latin typeface="Malgun Gothic" panose="020B0503020000020004" pitchFamily="50" charset="-127"/>
              </a:rPr>
              <a:t>Memory</a:t>
            </a:r>
          </a:p>
          <a:p>
            <a:r>
              <a:rPr lang="en-US" altLang="ko-KR" sz="4400" b="1">
                <a:solidFill>
                  <a:srgbClr val="000000"/>
                </a:solidFill>
                <a:latin typeface="Malgun Gothic" panose="020B0503020000020004" pitchFamily="50" charset="-127"/>
              </a:rPr>
              <a:t>Lens</a:t>
            </a:r>
            <a:endParaRPr lang="ko-KR" altLang="en-US" sz="4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8B8B3-866E-780E-F034-D9081E4DC974}"/>
              </a:ext>
            </a:extLst>
          </p:cNvPr>
          <p:cNvSpPr txBox="1"/>
          <p:nvPr/>
        </p:nvSpPr>
        <p:spPr>
          <a:xfrm>
            <a:off x="762000" y="2743200"/>
            <a:ext cx="533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>
                <a:solidFill>
                  <a:srgbClr val="3C3C3C"/>
                </a:solidFill>
                <a:latin typeface="Malgun Gothic" panose="020B0503020000020004" pitchFamily="50" charset="-127"/>
              </a:rPr>
              <a:t>Tab</a:t>
            </a:r>
            <a:r>
              <a:rPr lang="ko-KR" altLang="en-US">
                <a:solidFill>
                  <a:srgbClr val="3C3C3C"/>
                </a:solidFill>
                <a:latin typeface="Malgun Gothic" panose="020B0503020000020004" pitchFamily="50" charset="-127"/>
              </a:rPr>
              <a:t>은 메뉴가 아니라</a:t>
            </a:r>
            <a:r>
              <a:rPr lang="en-US" altLang="ko-KR">
                <a:solidFill>
                  <a:srgbClr val="3C3C3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3C3C3C"/>
                </a:solidFill>
                <a:latin typeface="Malgun Gothic" panose="020B0503020000020004" pitchFamily="50" charset="-127"/>
              </a:rPr>
              <a:t>세계 위에 겹치는 렌즈입니다</a:t>
            </a:r>
            <a:r>
              <a:rPr lang="en-US" altLang="ko-KR">
                <a:solidFill>
                  <a:srgbClr val="3C3C3C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3C3C3C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6D389A-2968-3CB5-653C-BFBBD388B3FC}"/>
              </a:ext>
            </a:extLst>
          </p:cNvPr>
          <p:cNvSpPr txBox="1"/>
          <p:nvPr/>
        </p:nvSpPr>
        <p:spPr>
          <a:xfrm>
            <a:off x="762000" y="3860800"/>
            <a:ext cx="5334000" cy="125418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World Space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기억 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UI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가 미처리 기억 근처에 떠 있습니다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Tab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렌즈 오버레이로 문장과 도시 구조물을 겹쳐 봅니다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· UI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와 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3D </a:t>
            </a:r>
            <a:r>
              <a:rPr lang="ko-KR" altLang="en-US" sz="1600">
                <a:solidFill>
                  <a:srgbClr val="2D2D2D"/>
                </a:solidFill>
                <a:latin typeface="Malgun Gothic" panose="020B0503020000020004" pitchFamily="50" charset="-127"/>
              </a:rPr>
              <a:t>공간의 정렬이 퍼즐 풀이가 됩니다</a:t>
            </a:r>
            <a:r>
              <a:rPr lang="en-US" altLang="ko-KR" sz="16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endParaRPr lang="ko-KR" altLang="en-US" sz="1600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EEFEBA-C0AE-4B5F-2DE5-B10454ABEF72}"/>
              </a:ext>
            </a:extLst>
          </p:cNvPr>
          <p:cNvSpPr/>
          <p:nvPr/>
        </p:nvSpPr>
        <p:spPr>
          <a:xfrm>
            <a:off x="6604000" y="1397000"/>
            <a:ext cx="4826000" cy="3683000"/>
          </a:xfrm>
          <a:prstGeom prst="rect">
            <a:avLst/>
          </a:prstGeom>
          <a:solidFill>
            <a:srgbClr val="F7F7F7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스크린샷 삽입 예정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: Tab 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기억 렌즈 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ON/OFF]</a:t>
            </a:r>
            <a:endParaRPr lang="ko-KR" altLang="en-US" sz="1600">
              <a:solidFill>
                <a:srgbClr val="5A5A5A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DF8CE78-FF15-FA38-6094-86F1B585C88F}"/>
              </a:ext>
            </a:extLst>
          </p:cNvPr>
          <p:cNvCxnSpPr/>
          <p:nvPr/>
        </p:nvCxnSpPr>
        <p:spPr>
          <a:xfrm>
            <a:off x="6604000" y="5461000"/>
            <a:ext cx="4826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90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DAC91-089B-BC70-CB7F-89DD1A4E59E9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05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6B02C-BE7E-69CD-49E8-E88C9AB2D5D2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PLAY FLOW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271C0A0-3041-BE63-1D78-25490C599AD2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7BFBD5-9154-99B0-7ED5-F9E45044AD7E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게임 진행 흐름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B05FB2-EB6A-C9CF-50AB-A907AB8E63C5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탐험에서 엔딩까지 한 번의 발표 루프로 이어집니다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66A5882-0F8F-9E06-C379-C9968CAD8AE1}"/>
              </a:ext>
            </a:extLst>
          </p:cNvPr>
          <p:cNvCxnSpPr/>
          <p:nvPr/>
        </p:nvCxnSpPr>
        <p:spPr>
          <a:xfrm>
            <a:off x="1397000" y="4038600"/>
            <a:ext cx="939800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D06EF5A3-EE52-7436-4E40-EAC75C5571F2}"/>
              </a:ext>
            </a:extLst>
          </p:cNvPr>
          <p:cNvSpPr/>
          <p:nvPr/>
        </p:nvSpPr>
        <p:spPr>
          <a:xfrm>
            <a:off x="12192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21647F-24BA-BE64-3CD3-4302B0626534}"/>
              </a:ext>
            </a:extLst>
          </p:cNvPr>
          <p:cNvSpPr txBox="1"/>
          <p:nvPr/>
        </p:nvSpPr>
        <p:spPr>
          <a:xfrm>
            <a:off x="12446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1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0A0EC5-3AEF-0E68-ADA4-F2F9D437A524}"/>
              </a:ext>
            </a:extLst>
          </p:cNvPr>
          <p:cNvSpPr txBox="1"/>
          <p:nvPr/>
        </p:nvSpPr>
        <p:spPr>
          <a:xfrm>
            <a:off x="7874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탐험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6BCF191A-EB4F-173B-539D-462C5142EA02}"/>
              </a:ext>
            </a:extLst>
          </p:cNvPr>
          <p:cNvSpPr/>
          <p:nvPr/>
        </p:nvSpPr>
        <p:spPr>
          <a:xfrm>
            <a:off x="30988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C74EC6-8DBF-1182-8E59-69096CA928BC}"/>
              </a:ext>
            </a:extLst>
          </p:cNvPr>
          <p:cNvSpPr txBox="1"/>
          <p:nvPr/>
        </p:nvSpPr>
        <p:spPr>
          <a:xfrm>
            <a:off x="31242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2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BD4D36-26D6-8A7D-52B7-1FC8BC4F6027}"/>
              </a:ext>
            </a:extLst>
          </p:cNvPr>
          <p:cNvSpPr txBox="1"/>
          <p:nvPr/>
        </p:nvSpPr>
        <p:spPr>
          <a:xfrm>
            <a:off x="26670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회수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FDD2A21-51F6-1DC2-E229-0B44378837C0}"/>
              </a:ext>
            </a:extLst>
          </p:cNvPr>
          <p:cNvSpPr/>
          <p:nvPr/>
        </p:nvSpPr>
        <p:spPr>
          <a:xfrm>
            <a:off x="49784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7EACD-8A82-2EFD-518B-BDB0EDFEC689}"/>
              </a:ext>
            </a:extLst>
          </p:cNvPr>
          <p:cNvSpPr txBox="1"/>
          <p:nvPr/>
        </p:nvSpPr>
        <p:spPr>
          <a:xfrm>
            <a:off x="50038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3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12E55B-A5A7-4428-B94B-F552B06BBA18}"/>
              </a:ext>
            </a:extLst>
          </p:cNvPr>
          <p:cNvSpPr txBox="1"/>
          <p:nvPr/>
        </p:nvSpPr>
        <p:spPr>
          <a:xfrm>
            <a:off x="45466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렌즈 복원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9AEE268-D720-B316-CAB7-2B2D37B879BC}"/>
              </a:ext>
            </a:extLst>
          </p:cNvPr>
          <p:cNvSpPr/>
          <p:nvPr/>
        </p:nvSpPr>
        <p:spPr>
          <a:xfrm>
            <a:off x="68580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528C28-C782-1A90-5A7A-A80EBB2F9282}"/>
              </a:ext>
            </a:extLst>
          </p:cNvPr>
          <p:cNvSpPr txBox="1"/>
          <p:nvPr/>
        </p:nvSpPr>
        <p:spPr>
          <a:xfrm>
            <a:off x="68834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4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3ED695-D178-EB6C-3DDC-824DEBAE7E32}"/>
              </a:ext>
            </a:extLst>
          </p:cNvPr>
          <p:cNvSpPr txBox="1"/>
          <p:nvPr/>
        </p:nvSpPr>
        <p:spPr>
          <a:xfrm>
            <a:off x="64262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선택 처리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9A77FDE-3FFE-910A-6416-C5B3827E0653}"/>
              </a:ext>
            </a:extLst>
          </p:cNvPr>
          <p:cNvSpPr/>
          <p:nvPr/>
        </p:nvSpPr>
        <p:spPr>
          <a:xfrm>
            <a:off x="87376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01FA0E-4EE6-B258-C8F6-6E2C4506CE08}"/>
              </a:ext>
            </a:extLst>
          </p:cNvPr>
          <p:cNvSpPr txBox="1"/>
          <p:nvPr/>
        </p:nvSpPr>
        <p:spPr>
          <a:xfrm>
            <a:off x="87630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5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B65B52-8BBC-89FA-ADD9-1291EF44E530}"/>
              </a:ext>
            </a:extLst>
          </p:cNvPr>
          <p:cNvSpPr txBox="1"/>
          <p:nvPr/>
        </p:nvSpPr>
        <p:spPr>
          <a:xfrm>
            <a:off x="83058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행동 기록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6A7B6697-0747-47BB-F245-A302D82D107A}"/>
              </a:ext>
            </a:extLst>
          </p:cNvPr>
          <p:cNvSpPr/>
          <p:nvPr/>
        </p:nvSpPr>
        <p:spPr>
          <a:xfrm>
            <a:off x="10617200" y="3860800"/>
            <a:ext cx="355600" cy="355600"/>
          </a:xfrm>
          <a:prstGeom prst="ellipse">
            <a:avLst/>
          </a:prstGeom>
          <a:solidFill>
            <a:srgbClr val="FFFFFF"/>
          </a:solidFill>
          <a:ln w="1397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1A3D53-727D-9295-1BCF-6FB155602F81}"/>
              </a:ext>
            </a:extLst>
          </p:cNvPr>
          <p:cNvSpPr txBox="1"/>
          <p:nvPr/>
        </p:nvSpPr>
        <p:spPr>
          <a:xfrm>
            <a:off x="10642600" y="3924300"/>
            <a:ext cx="3048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800" b="1">
                <a:solidFill>
                  <a:srgbClr val="000000"/>
                </a:solidFill>
                <a:latin typeface="Malgun Gothic" panose="020B0503020000020004" pitchFamily="50" charset="-127"/>
              </a:rPr>
              <a:t>6</a:t>
            </a:r>
            <a:endParaRPr lang="ko-KR" altLang="en-US" sz="8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495AAC-B2FE-4180-8699-A9D8E35CBFE5}"/>
              </a:ext>
            </a:extLst>
          </p:cNvPr>
          <p:cNvSpPr txBox="1"/>
          <p:nvPr/>
        </p:nvSpPr>
        <p:spPr>
          <a:xfrm>
            <a:off x="10185400" y="4445000"/>
            <a:ext cx="1219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32323"/>
                </a:solidFill>
                <a:latin typeface="Malgun Gothic" panose="020B0503020000020004" pitchFamily="50" charset="-127"/>
              </a:rPr>
              <a:t>아카이브 엔딩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254E03-5618-0FCF-989B-2B5A6B60F525}"/>
              </a:ext>
            </a:extLst>
          </p:cNvPr>
          <p:cNvSpPr txBox="1"/>
          <p:nvPr/>
        </p:nvSpPr>
        <p:spPr>
          <a:xfrm>
            <a:off x="1524000" y="5143500"/>
            <a:ext cx="914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>
                <a:solidFill>
                  <a:srgbClr val="464646"/>
                </a:solidFill>
                <a:latin typeface="Malgun Gothic" panose="020B0503020000020004" pitchFamily="50" charset="-127"/>
              </a:rPr>
              <a:t>처리 완료 기억 </a:t>
            </a:r>
            <a:r>
              <a:rPr lang="en-US" altLang="ko-KR" sz="1600">
                <a:solidFill>
                  <a:srgbClr val="464646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600">
                <a:solidFill>
                  <a:srgbClr val="464646"/>
                </a:solidFill>
                <a:latin typeface="Malgun Gothic" panose="020B0503020000020004" pitchFamily="50" charset="-127"/>
              </a:rPr>
              <a:t>개 이상이면 중앙 아카이브 엔딩 조건이 열립니다</a:t>
            </a:r>
            <a:r>
              <a:rPr lang="en-US" altLang="ko-KR" sz="1600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7581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F0D58-2A6E-770A-0865-883ED511F80E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06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2242D-6513-4D39-FC92-549CA732C07A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THREE LENS PUZZLES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D2BC093-43E1-2AAA-F975-4BBEB74300E4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7E28118-7695-309D-3B98-661A0F730D8D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기억 렌즈 퍼즐 </a:t>
            </a:r>
            <a:r>
              <a:rPr lang="en-US" altLang="ko-KR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3A94DC-BE32-E8E1-3100-E1C36EE86959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겹치기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가리기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멈추기로 기억을 복원합니다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6B5CA49-E6EA-79AE-C034-C7C8B16DF51A}"/>
              </a:ext>
            </a:extLst>
          </p:cNvPr>
          <p:cNvSpPr/>
          <p:nvPr/>
        </p:nvSpPr>
        <p:spPr>
          <a:xfrm>
            <a:off x="762000" y="3022600"/>
            <a:ext cx="3175000" cy="241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AEA7B-0CA1-A4E4-77ED-7D2300829624}"/>
              </a:ext>
            </a:extLst>
          </p:cNvPr>
          <p:cNvSpPr txBox="1"/>
          <p:nvPr/>
        </p:nvSpPr>
        <p:spPr>
          <a:xfrm>
            <a:off x="1016000" y="3302000"/>
            <a:ext cx="266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LensAlign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9288D2-B05B-33EB-6DD8-5C8FA59C15B4}"/>
              </a:ext>
            </a:extLst>
          </p:cNvPr>
          <p:cNvSpPr txBox="1"/>
          <p:nvPr/>
        </p:nvSpPr>
        <p:spPr>
          <a:xfrm>
            <a:off x="1016000" y="386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505050"/>
                </a:solidFill>
                <a:latin typeface="Malgun Gothic" panose="020B0503020000020004" pitchFamily="50" charset="-127"/>
              </a:rPr>
              <a:t>파란 우산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6EEB45F-EC4D-317F-D450-69EE0C6C89E8}"/>
              </a:ext>
            </a:extLst>
          </p:cNvPr>
          <p:cNvCxnSpPr/>
          <p:nvPr/>
        </p:nvCxnSpPr>
        <p:spPr>
          <a:xfrm>
            <a:off x="1016000" y="4318000"/>
            <a:ext cx="2667000" cy="0"/>
          </a:xfrm>
          <a:prstGeom prst="line">
            <a:avLst/>
          </a:prstGeom>
          <a:ln w="1016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4F004B1-74D2-72EE-9DEA-6EB90932E8C6}"/>
              </a:ext>
            </a:extLst>
          </p:cNvPr>
          <p:cNvSpPr txBox="1"/>
          <p:nvPr/>
        </p:nvSpPr>
        <p:spPr>
          <a:xfrm>
            <a:off x="1016000" y="4572000"/>
            <a:ext cx="2641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73737"/>
                </a:solidFill>
                <a:latin typeface="Malgun Gothic" panose="020B0503020000020004" pitchFamily="50" charset="-127"/>
              </a:rPr>
              <a:t>월드 </a:t>
            </a:r>
            <a:r>
              <a:rPr lang="en-US" altLang="ko-KR" sz="1300">
                <a:solidFill>
                  <a:srgbClr val="373737"/>
                </a:solidFill>
                <a:latin typeface="Malgun Gothic" panose="020B0503020000020004" pitchFamily="50" charset="-127"/>
              </a:rPr>
              <a:t>UI</a:t>
            </a:r>
            <a:r>
              <a:rPr lang="ko-KR" altLang="en-US" sz="1300">
                <a:solidFill>
                  <a:srgbClr val="373737"/>
                </a:solidFill>
                <a:latin typeface="Malgun Gothic" panose="020B0503020000020004" pitchFamily="50" charset="-127"/>
              </a:rPr>
              <a:t>의 빈칸을 대상과 겹쳐 복원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D0754D-8BC1-3581-DD66-C524D3D588CC}"/>
              </a:ext>
            </a:extLst>
          </p:cNvPr>
          <p:cNvSpPr/>
          <p:nvPr/>
        </p:nvSpPr>
        <p:spPr>
          <a:xfrm>
            <a:off x="4572000" y="3022600"/>
            <a:ext cx="3175000" cy="241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FEC80A-96A2-6C9E-E0CA-70D57FCCAB67}"/>
              </a:ext>
            </a:extLst>
          </p:cNvPr>
          <p:cNvSpPr txBox="1"/>
          <p:nvPr/>
        </p:nvSpPr>
        <p:spPr>
          <a:xfrm>
            <a:off x="4826000" y="3302000"/>
            <a:ext cx="266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LensOcclude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CA10C-D28F-E8F9-D061-E8F56CC721C0}"/>
              </a:ext>
            </a:extLst>
          </p:cNvPr>
          <p:cNvSpPr txBox="1"/>
          <p:nvPr/>
        </p:nvSpPr>
        <p:spPr>
          <a:xfrm>
            <a:off x="4826000" y="386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505050"/>
                </a:solidFill>
                <a:latin typeface="Malgun Gothic" panose="020B0503020000020004" pitchFamily="50" charset="-127"/>
              </a:rPr>
              <a:t>지워진 안내 방송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E92F8731-31AF-A0E2-0D21-56210A98921D}"/>
              </a:ext>
            </a:extLst>
          </p:cNvPr>
          <p:cNvCxnSpPr/>
          <p:nvPr/>
        </p:nvCxnSpPr>
        <p:spPr>
          <a:xfrm>
            <a:off x="4826000" y="4318000"/>
            <a:ext cx="2667000" cy="0"/>
          </a:xfrm>
          <a:prstGeom prst="line">
            <a:avLst/>
          </a:prstGeom>
          <a:ln w="1016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C6BFB0-82EA-9352-37DA-337FB18B1C57}"/>
              </a:ext>
            </a:extLst>
          </p:cNvPr>
          <p:cNvSpPr txBox="1"/>
          <p:nvPr/>
        </p:nvSpPr>
        <p:spPr>
          <a:xfrm>
            <a:off x="4826000" y="4572000"/>
            <a:ext cx="2641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73737"/>
                </a:solidFill>
                <a:latin typeface="Malgun Gothic" panose="020B0503020000020004" pitchFamily="50" charset="-127"/>
              </a:rPr>
              <a:t>거짓 단어를 가려 누락된 진실을 노출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7088F4-44FA-FDDA-1913-2074AC9652B3}"/>
              </a:ext>
            </a:extLst>
          </p:cNvPr>
          <p:cNvSpPr/>
          <p:nvPr/>
        </p:nvSpPr>
        <p:spPr>
          <a:xfrm>
            <a:off x="8382000" y="3022600"/>
            <a:ext cx="3175000" cy="2413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FEEEBC-6A20-2EA3-8CEE-A0A5025E1494}"/>
              </a:ext>
            </a:extLst>
          </p:cNvPr>
          <p:cNvSpPr txBox="1"/>
          <p:nvPr/>
        </p:nvSpPr>
        <p:spPr>
          <a:xfrm>
            <a:off x="8636000" y="3302000"/>
            <a:ext cx="266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Stillness</a:t>
            </a:r>
            <a:endParaRPr lang="ko-KR" altLang="en-US" sz="22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E97FA-60AF-6419-2A2E-EC0D9619AAD3}"/>
              </a:ext>
            </a:extLst>
          </p:cNvPr>
          <p:cNvSpPr txBox="1"/>
          <p:nvPr/>
        </p:nvSpPr>
        <p:spPr>
          <a:xfrm>
            <a:off x="8636000" y="3860800"/>
            <a:ext cx="266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505050"/>
                </a:solidFill>
                <a:latin typeface="Malgun Gothic" panose="020B0503020000020004" pitchFamily="50" charset="-127"/>
              </a:rPr>
              <a:t>수거원의 빈 파일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8DA5AE2A-0E73-0A00-AC5E-19E70B56F38F}"/>
              </a:ext>
            </a:extLst>
          </p:cNvPr>
          <p:cNvCxnSpPr/>
          <p:nvPr/>
        </p:nvCxnSpPr>
        <p:spPr>
          <a:xfrm>
            <a:off x="8636000" y="4318000"/>
            <a:ext cx="2667000" cy="0"/>
          </a:xfrm>
          <a:prstGeom prst="line">
            <a:avLst/>
          </a:prstGeom>
          <a:ln w="10160">
            <a:solidFill>
              <a:srgbClr val="C8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8215B9C-5E67-A677-8950-DE08274711A1}"/>
              </a:ext>
            </a:extLst>
          </p:cNvPr>
          <p:cNvSpPr txBox="1"/>
          <p:nvPr/>
        </p:nvSpPr>
        <p:spPr>
          <a:xfrm>
            <a:off x="8636000" y="4572000"/>
            <a:ext cx="26416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73737"/>
                </a:solidFill>
                <a:latin typeface="Malgun Gothic" panose="020B0503020000020004" pitchFamily="50" charset="-127"/>
              </a:rPr>
              <a:t>렌즈를 켠 채 멈춰 문장이 열리게 함</a:t>
            </a:r>
          </a:p>
        </p:txBody>
      </p:sp>
    </p:spTree>
    <p:extLst>
      <p:ext uri="{BB962C8B-B14F-4D97-AF65-F5344CB8AC3E}">
        <p14:creationId xmlns:p14="http://schemas.microsoft.com/office/powerpoint/2010/main" val="3673334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C632A3-4C50-5915-B7D7-BDE50C75840C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07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86F76-6EBC-A04B-FB7C-DA6DEA1EC6DB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CHOICE DESIGN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565C5ED-C328-F5AC-D809-3A53C0793254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25AC2B6-1452-0497-3BE3-D1C251FF4531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보존 </a:t>
            </a:r>
            <a:r>
              <a:rPr lang="en-US" altLang="ko-KR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삭제 </a:t>
            </a:r>
            <a:r>
              <a:rPr lang="en-US" altLang="ko-KR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재가공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542C4-4469-DF92-7B2F-079765F0E338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같은 기억도 처리 방식에 따라 다른 증언으로 남습니다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B710F9-361E-1A54-8858-F75D87D799D0}"/>
              </a:ext>
            </a:extLst>
          </p:cNvPr>
          <p:cNvSpPr/>
          <p:nvPr/>
        </p:nvSpPr>
        <p:spPr>
          <a:xfrm>
            <a:off x="889000" y="2997200"/>
            <a:ext cx="2984500" cy="22606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08CB3-68D7-25F3-B502-35262A3614A2}"/>
              </a:ext>
            </a:extLst>
          </p:cNvPr>
          <p:cNvSpPr txBox="1"/>
          <p:nvPr/>
        </p:nvSpPr>
        <p:spPr>
          <a:xfrm>
            <a:off x="1117600" y="3276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0000"/>
                </a:solidFill>
                <a:latin typeface="Malgun Gothic" panose="020B0503020000020004" pitchFamily="50" charset="-127"/>
              </a:rPr>
              <a:t>보존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A415A-6735-02A2-E752-87B1E82D3C95}"/>
              </a:ext>
            </a:extLst>
          </p:cNvPr>
          <p:cNvSpPr txBox="1"/>
          <p:nvPr/>
        </p:nvSpPr>
        <p:spPr>
          <a:xfrm>
            <a:off x="1117600" y="3886200"/>
            <a:ext cx="241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464646"/>
                </a:solidFill>
                <a:latin typeface="Malgun Gothic" panose="020B0503020000020004" pitchFamily="50" charset="-127"/>
              </a:rPr>
              <a:t>원문 그대로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4B4D68-70A8-D42F-E686-54196F46D08B}"/>
              </a:ext>
            </a:extLst>
          </p:cNvPr>
          <p:cNvSpPr txBox="1"/>
          <p:nvPr/>
        </p:nvSpPr>
        <p:spPr>
          <a:xfrm>
            <a:off x="1117600" y="43942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C3C3C"/>
                </a:solidFill>
                <a:latin typeface="Malgun Gothic" panose="020B0503020000020004" pitchFamily="50" charset="-127"/>
              </a:rPr>
              <a:t>상처까지 증언으로 남김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4A5EBB-6221-7535-795A-E2E9F8DED335}"/>
              </a:ext>
            </a:extLst>
          </p:cNvPr>
          <p:cNvSpPr/>
          <p:nvPr/>
        </p:nvSpPr>
        <p:spPr>
          <a:xfrm>
            <a:off x="4508500" y="2997200"/>
            <a:ext cx="2984500" cy="22606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B8B9BF-B879-9EFE-21CA-E92AB8A6C868}"/>
              </a:ext>
            </a:extLst>
          </p:cNvPr>
          <p:cNvSpPr txBox="1"/>
          <p:nvPr/>
        </p:nvSpPr>
        <p:spPr>
          <a:xfrm>
            <a:off x="4737100" y="3276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0000"/>
                </a:solidFill>
                <a:latin typeface="Malgun Gothic" panose="020B0503020000020004" pitchFamily="50" charset="-127"/>
              </a:rPr>
              <a:t>삭제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7EA279-DCD9-745C-E78D-1D440BFDFEA5}"/>
              </a:ext>
            </a:extLst>
          </p:cNvPr>
          <p:cNvSpPr txBox="1"/>
          <p:nvPr/>
        </p:nvSpPr>
        <p:spPr>
          <a:xfrm>
            <a:off x="4737100" y="3886200"/>
            <a:ext cx="241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464646"/>
                </a:solidFill>
                <a:latin typeface="Malgun Gothic" panose="020B0503020000020004" pitchFamily="50" charset="-127"/>
              </a:rPr>
              <a:t>□□□ 처리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69F97A-440C-81FC-527C-E10EA7A2A3C4}"/>
              </a:ext>
            </a:extLst>
          </p:cNvPr>
          <p:cNvSpPr txBox="1"/>
          <p:nvPr/>
        </p:nvSpPr>
        <p:spPr>
          <a:xfrm>
            <a:off x="4737100" y="43942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C3C3C"/>
                </a:solidFill>
                <a:latin typeface="Malgun Gothic" panose="020B0503020000020004" pitchFamily="50" charset="-127"/>
              </a:rPr>
              <a:t>증언 없음 </a:t>
            </a:r>
            <a:r>
              <a:rPr lang="en-US" altLang="ko-KR" sz="1300">
                <a:solidFill>
                  <a:srgbClr val="3C3C3C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3C3C3C"/>
                </a:solidFill>
                <a:latin typeface="Malgun Gothic" panose="020B0503020000020004" pitchFamily="50" charset="-127"/>
              </a:rPr>
              <a:t>공백으로 남김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1BA7D68-6021-694D-FBDC-73F44C8ABA0C}"/>
              </a:ext>
            </a:extLst>
          </p:cNvPr>
          <p:cNvSpPr/>
          <p:nvPr/>
        </p:nvSpPr>
        <p:spPr>
          <a:xfrm>
            <a:off x="8128000" y="2997200"/>
            <a:ext cx="2984500" cy="2260600"/>
          </a:xfrm>
          <a:prstGeom prst="rect">
            <a:avLst/>
          </a:prstGeom>
          <a:solidFill>
            <a:srgbClr val="FAFAFA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4AABC6-CF4B-71BD-BD61-02F436A07677}"/>
              </a:ext>
            </a:extLst>
          </p:cNvPr>
          <p:cNvSpPr txBox="1"/>
          <p:nvPr/>
        </p:nvSpPr>
        <p:spPr>
          <a:xfrm>
            <a:off x="8356600" y="3276600"/>
            <a:ext cx="241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000000"/>
                </a:solidFill>
                <a:latin typeface="Malgun Gothic" panose="020B0503020000020004" pitchFamily="50" charset="-127"/>
              </a:rPr>
              <a:t>재가공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DEEC7A-6D8F-C2DE-0D0E-01FD1921DB54}"/>
              </a:ext>
            </a:extLst>
          </p:cNvPr>
          <p:cNvSpPr txBox="1"/>
          <p:nvPr/>
        </p:nvSpPr>
        <p:spPr>
          <a:xfrm>
            <a:off x="8356600" y="3886200"/>
            <a:ext cx="241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464646"/>
                </a:solidFill>
                <a:latin typeface="Malgun Gothic" panose="020B0503020000020004" pitchFamily="50" charset="-127"/>
              </a:rPr>
              <a:t>아름다운 문장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95C02-A376-BF76-9AF1-7CAC7ADA06B1}"/>
              </a:ext>
            </a:extLst>
          </p:cNvPr>
          <p:cNvSpPr txBox="1"/>
          <p:nvPr/>
        </p:nvSpPr>
        <p:spPr>
          <a:xfrm>
            <a:off x="8356600" y="43942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3C3C3C"/>
                </a:solidFill>
                <a:latin typeface="Malgun Gothic" panose="020B0503020000020004" pitchFamily="50" charset="-127"/>
              </a:rPr>
              <a:t>기록 불일치 경고 표시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DDEE3C-CECB-872C-9A04-4CB76E6D9E3A}"/>
              </a:ext>
            </a:extLst>
          </p:cNvPr>
          <p:cNvSpPr txBox="1"/>
          <p:nvPr/>
        </p:nvSpPr>
        <p:spPr>
          <a:xfrm>
            <a:off x="889000" y="5638800"/>
            <a:ext cx="990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464646"/>
                </a:solidFill>
                <a:latin typeface="Malgun Gothic" panose="020B0503020000020004" pitchFamily="50" charset="-127"/>
              </a:rPr>
              <a:t>선택 결과는 엔딩 증언과 수거원 행동 기록에 다시 반영됩니다</a:t>
            </a:r>
            <a:r>
              <a:rPr lang="en-US" altLang="ko-KR" sz="1500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769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731FF-4FC8-9F9D-F342-3DD429BF288E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08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EF4B2-F1FD-86E5-03EB-E97916C32ABC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THE GAME REMEMBERS THE PLAYER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8409F4E-7C85-44A0-A1B5-A2358A560BC5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424D39-ABC2-0DC9-622D-6EFDA41B9505}"/>
              </a:ext>
            </a:extLst>
          </p:cNvPr>
          <p:cNvSpPr txBox="1"/>
          <p:nvPr/>
        </p:nvSpPr>
        <p:spPr>
          <a:xfrm>
            <a:off x="762000" y="1168400"/>
            <a:ext cx="6350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PlayerMemoryLog</a:t>
            </a:r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와 아카이브 심문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594D4-D295-F6AA-BD65-7EF4CEF01F63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아카이브는 도시뿐 아니라 수거원의 행동도 기록합니다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26A48-8554-5F84-08D1-E72B7580BC62}"/>
              </a:ext>
            </a:extLst>
          </p:cNvPr>
          <p:cNvSpPr/>
          <p:nvPr/>
        </p:nvSpPr>
        <p:spPr>
          <a:xfrm>
            <a:off x="7239000" y="1498600"/>
            <a:ext cx="4191000" cy="3429000"/>
          </a:xfrm>
          <a:prstGeom prst="rect">
            <a:avLst/>
          </a:prstGeom>
          <a:solidFill>
            <a:srgbClr val="F7F7F7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스크린샷 삽입 예정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아카이브 행동 기록 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심문 화면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]</a:t>
            </a:r>
            <a:endParaRPr lang="ko-KR" altLang="en-US" sz="1600">
              <a:solidFill>
                <a:srgbClr val="5A5A5A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189B6D-2800-D0A6-981C-8E70254EBFE2}"/>
              </a:ext>
            </a:extLst>
          </p:cNvPr>
          <p:cNvSpPr txBox="1"/>
          <p:nvPr/>
        </p:nvSpPr>
        <p:spPr>
          <a:xfrm>
            <a:off x="762000" y="3022600"/>
            <a:ext cx="5588000" cy="15773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첫 선택과 선택 횟수를 기록합니다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퍼즐 오답과 특수 해결 방식을 기록합니다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700">
                <a:solidFill>
                  <a:srgbClr val="2D2D2D"/>
                </a:solidFill>
                <a:latin typeface="Malgun Gothic" panose="020B0503020000020004" pitchFamily="50" charset="-127"/>
              </a:rPr>
              <a:t>엔딩에서 행동 기록과 아카이브 증언으로 다시 출력합니다</a:t>
            </a:r>
            <a:r>
              <a:rPr lang="en-US" altLang="ko-KR" sz="1700">
                <a:solidFill>
                  <a:srgbClr val="2D2D2D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700"/>
              </a:spcAft>
            </a:pPr>
            <a:endParaRPr lang="ko-KR" altLang="en-US" sz="1700">
              <a:solidFill>
                <a:srgbClr val="2D2D2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4D821A8-27B6-6A9F-EB05-CBE52D0E88C5}"/>
              </a:ext>
            </a:extLst>
          </p:cNvPr>
          <p:cNvCxnSpPr/>
          <p:nvPr/>
        </p:nvCxnSpPr>
        <p:spPr>
          <a:xfrm>
            <a:off x="7239000" y="5207000"/>
            <a:ext cx="4191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2BB784-65EF-CE3D-1AB1-A3BE32C7383D}"/>
              </a:ext>
            </a:extLst>
          </p:cNvPr>
          <p:cNvSpPr txBox="1"/>
          <p:nvPr/>
        </p:nvSpPr>
        <p:spPr>
          <a:xfrm>
            <a:off x="7239000" y="5410200"/>
            <a:ext cx="381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787878"/>
                </a:solidFill>
                <a:latin typeface="Malgun Gothic" panose="020B0503020000020004" pitchFamily="50" charset="-127"/>
              </a:rPr>
              <a:t>SCREENSHOT AREA</a:t>
            </a:r>
            <a:endParaRPr lang="ko-KR" altLang="en-US" sz="10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404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FF2A3-7147-72DD-73FC-7A282F503F2A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09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75E9C3-F483-A71F-4E02-0B30E2B4049D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SYSTEM STRUCTURE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033629-F458-4854-235E-C02C2A3C1EAE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8DDF1B0-3A46-768C-F87F-3BCE5921FC8D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시스템 </a:t>
            </a:r>
            <a:r>
              <a:rPr lang="en-US" altLang="ko-KR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클래스 구조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8ADF45-649D-168F-3E5B-F2F4CAF5A7D9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기존 구조를 유지하고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기억 렌즈와 행동 기록만 최소 확장했습니다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2999D0-39BF-920D-FB9A-DA3BCC7E25B2}"/>
              </a:ext>
            </a:extLst>
          </p:cNvPr>
          <p:cNvSpPr/>
          <p:nvPr/>
        </p:nvSpPr>
        <p:spPr>
          <a:xfrm>
            <a:off x="762000" y="2971800"/>
            <a:ext cx="10668000" cy="558800"/>
          </a:xfrm>
          <a:prstGeom prst="rect">
            <a:avLst/>
          </a:prstGeom>
          <a:solidFill>
            <a:srgbClr val="F5F5F5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24574-C84B-9AAB-AD4C-EAD23080B293}"/>
              </a:ext>
            </a:extLst>
          </p:cNvPr>
          <p:cNvSpPr txBox="1"/>
          <p:nvPr/>
        </p:nvSpPr>
        <p:spPr>
          <a:xfrm>
            <a:off x="1041400" y="3149600"/>
            <a:ext cx="241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00000"/>
                </a:solidFill>
                <a:latin typeface="Malgun Gothic" panose="020B0503020000020004" pitchFamily="50" charset="-127"/>
              </a:rPr>
              <a:t>클래스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EA19C4-810D-0C8E-7A3F-3DAC8AF5D514}"/>
              </a:ext>
            </a:extLst>
          </p:cNvPr>
          <p:cNvSpPr txBox="1"/>
          <p:nvPr/>
        </p:nvSpPr>
        <p:spPr>
          <a:xfrm>
            <a:off x="3835400" y="3149600"/>
            <a:ext cx="330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00000"/>
                </a:solidFill>
                <a:latin typeface="Malgun Gothic" panose="020B0503020000020004" pitchFamily="50" charset="-127"/>
              </a:rPr>
              <a:t>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73D639-7079-6F87-FF62-A757BEFF1FCE}"/>
              </a:ext>
            </a:extLst>
          </p:cNvPr>
          <p:cNvSpPr txBox="1"/>
          <p:nvPr/>
        </p:nvSpPr>
        <p:spPr>
          <a:xfrm>
            <a:off x="7620000" y="3149600"/>
            <a:ext cx="3048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00000"/>
                </a:solidFill>
                <a:latin typeface="Malgun Gothic" panose="020B0503020000020004" pitchFamily="50" charset="-127"/>
              </a:rPr>
              <a:t>발표 포인트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71E10E-EE81-52E7-4ECA-6AE29CE2FAA6}"/>
              </a:ext>
            </a:extLst>
          </p:cNvPr>
          <p:cNvSpPr/>
          <p:nvPr/>
        </p:nvSpPr>
        <p:spPr>
          <a:xfrm>
            <a:off x="762000" y="3530600"/>
            <a:ext cx="106680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DCD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3F9113-7202-409D-FD1B-B613098D22FB}"/>
              </a:ext>
            </a:extLst>
          </p:cNvPr>
          <p:cNvSpPr txBox="1"/>
          <p:nvPr/>
        </p:nvSpPr>
        <p:spPr>
          <a:xfrm>
            <a:off x="1041400" y="37084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000000"/>
                </a:solidFill>
                <a:latin typeface="Malgun Gothic" panose="020B0503020000020004" pitchFamily="50" charset="-127"/>
              </a:rPr>
              <a:t>MemoryManager3D</a:t>
            </a:r>
            <a:endParaRPr lang="ko-KR" altLang="en-US" sz="1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5D5214-F9A6-E6FB-F49F-732CA0C36774}"/>
              </a:ext>
            </a:extLst>
          </p:cNvPr>
          <p:cNvSpPr txBox="1"/>
          <p:nvPr/>
        </p:nvSpPr>
        <p:spPr>
          <a:xfrm>
            <a:off x="3835400" y="37084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기억 상태와 처리 흐름 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B42D7D-5A23-77A4-8ADE-4703457F7FC7}"/>
              </a:ext>
            </a:extLst>
          </p:cNvPr>
          <p:cNvSpPr txBox="1"/>
          <p:nvPr/>
        </p:nvSpPr>
        <p:spPr>
          <a:xfrm>
            <a:off x="7620000" y="37084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기존 루프 유지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BF3375-2EF0-F015-8004-F875262705A8}"/>
              </a:ext>
            </a:extLst>
          </p:cNvPr>
          <p:cNvSpPr/>
          <p:nvPr/>
        </p:nvSpPr>
        <p:spPr>
          <a:xfrm>
            <a:off x="762000" y="4140200"/>
            <a:ext cx="106680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DCD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9AB06-FA52-4186-7CD6-7E0834DBEF24}"/>
              </a:ext>
            </a:extLst>
          </p:cNvPr>
          <p:cNvSpPr txBox="1"/>
          <p:nvPr/>
        </p:nvSpPr>
        <p:spPr>
          <a:xfrm>
            <a:off x="1041400" y="43180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000000"/>
                </a:solidFill>
                <a:latin typeface="Malgun Gothic" panose="020B0503020000020004" pitchFamily="50" charset="-127"/>
              </a:rPr>
              <a:t>UIManager3D</a:t>
            </a:r>
            <a:endParaRPr lang="ko-KR" altLang="en-US" sz="1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1F5387-B8B4-0B0E-2750-6B13636A1EE6}"/>
              </a:ext>
            </a:extLst>
          </p:cNvPr>
          <p:cNvSpPr txBox="1"/>
          <p:nvPr/>
        </p:nvSpPr>
        <p:spPr>
          <a:xfrm>
            <a:off x="3835400" y="43180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기록 </a:t>
            </a:r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UI, 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렌즈 오버레이</a:t>
            </a:r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엔딩 화면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DFE3AA-6A9D-1EC9-9A5C-6B43E711D686}"/>
              </a:ext>
            </a:extLst>
          </p:cNvPr>
          <p:cNvSpPr txBox="1"/>
          <p:nvPr/>
        </p:nvSpPr>
        <p:spPr>
          <a:xfrm>
            <a:off x="7620000" y="43180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UI/UX 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최소 확장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9D9DB4-F92D-4351-8127-89A87CC89611}"/>
              </a:ext>
            </a:extLst>
          </p:cNvPr>
          <p:cNvSpPr/>
          <p:nvPr/>
        </p:nvSpPr>
        <p:spPr>
          <a:xfrm>
            <a:off x="762000" y="4749800"/>
            <a:ext cx="106680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DCD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D9FD-E481-B0E0-FE37-D864B273A85D}"/>
              </a:ext>
            </a:extLst>
          </p:cNvPr>
          <p:cNvSpPr txBox="1"/>
          <p:nvPr/>
        </p:nvSpPr>
        <p:spPr>
          <a:xfrm>
            <a:off x="1041400" y="49276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000000"/>
                </a:solidFill>
                <a:latin typeface="Malgun Gothic" panose="020B0503020000020004" pitchFamily="50" charset="-127"/>
              </a:rPr>
              <a:t>PlayerMemoryLog3D</a:t>
            </a:r>
            <a:endParaRPr lang="ko-KR" altLang="en-US" sz="1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FAE331-C274-D454-BEED-BD133D91D755}"/>
              </a:ext>
            </a:extLst>
          </p:cNvPr>
          <p:cNvSpPr txBox="1"/>
          <p:nvPr/>
        </p:nvSpPr>
        <p:spPr>
          <a:xfrm>
            <a:off x="3835400" y="49276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선택</a:t>
            </a:r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오답</a:t>
            </a:r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해결 방식 기록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BF06DF-F39D-0BDD-7CB9-8D00B814B1E9}"/>
              </a:ext>
            </a:extLst>
          </p:cNvPr>
          <p:cNvSpPr txBox="1"/>
          <p:nvPr/>
        </p:nvSpPr>
        <p:spPr>
          <a:xfrm>
            <a:off x="7620000" y="49276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게임이 플레이어를 기억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DF08DF9-4D64-8020-7250-E60EFD98A4DA}"/>
              </a:ext>
            </a:extLst>
          </p:cNvPr>
          <p:cNvSpPr/>
          <p:nvPr/>
        </p:nvSpPr>
        <p:spPr>
          <a:xfrm>
            <a:off x="762000" y="5359400"/>
            <a:ext cx="10668000" cy="609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DCDCD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5EC076-2D3E-F233-5A6B-A1D308A886AB}"/>
              </a:ext>
            </a:extLst>
          </p:cNvPr>
          <p:cNvSpPr txBox="1"/>
          <p:nvPr/>
        </p:nvSpPr>
        <p:spPr>
          <a:xfrm>
            <a:off x="1041400" y="5537200"/>
            <a:ext cx="2413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 b="1">
                <a:solidFill>
                  <a:srgbClr val="000000"/>
                </a:solidFill>
                <a:latin typeface="Malgun Gothic" panose="020B0503020000020004" pitchFamily="50" charset="-127"/>
              </a:rPr>
              <a:t>ArchiveTerminal3D</a:t>
            </a:r>
            <a:endParaRPr lang="ko-KR" altLang="en-US" sz="11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5B455F-A3E5-C82B-1F01-8628D5593B4A}"/>
              </a:ext>
            </a:extLst>
          </p:cNvPr>
          <p:cNvSpPr txBox="1"/>
          <p:nvPr/>
        </p:nvSpPr>
        <p:spPr>
          <a:xfrm>
            <a:off x="3835400" y="55372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100">
                <a:solidFill>
                  <a:srgbClr val="3C3C3C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개 이상 처리 후 엔딩 접속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A7DC5D-7860-17F6-4FC6-6622A347C0D0}"/>
              </a:ext>
            </a:extLst>
          </p:cNvPr>
          <p:cNvSpPr txBox="1"/>
          <p:nvPr/>
        </p:nvSpPr>
        <p:spPr>
          <a:xfrm>
            <a:off x="7620000" y="5537200"/>
            <a:ext cx="3048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3C3C3C"/>
                </a:solidFill>
                <a:latin typeface="Malgun Gothic" panose="020B0503020000020004" pitchFamily="50" charset="-127"/>
              </a:rPr>
              <a:t>아카이브 증언 출력</a:t>
            </a:r>
          </a:p>
        </p:txBody>
      </p:sp>
    </p:spTree>
    <p:extLst>
      <p:ext uri="{BB962C8B-B14F-4D97-AF65-F5344CB8AC3E}">
        <p14:creationId xmlns:p14="http://schemas.microsoft.com/office/powerpoint/2010/main" val="3810924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AFD136-EEC3-91B7-259E-A07484087B6C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10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34B3EF-AB39-99A2-9C9D-80398F415581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2 MIN 30 SEC DEMO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03435DB-19BE-579A-C593-31F37F4311B0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4C39E87-B359-C22C-CF9F-005E30758108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시연 영상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CDD51-8895-448F-73BB-4357F3E54E42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탐험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렌즈 복원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선택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아카이브 엔딩을 한 번에 보여줍니다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D888A4-53B8-E1B8-5DCF-FF56BBB274D2}"/>
              </a:ext>
            </a:extLst>
          </p:cNvPr>
          <p:cNvSpPr/>
          <p:nvPr/>
        </p:nvSpPr>
        <p:spPr>
          <a:xfrm>
            <a:off x="1333500" y="2717800"/>
            <a:ext cx="9525000" cy="2921000"/>
          </a:xfrm>
          <a:prstGeom prst="rect">
            <a:avLst/>
          </a:prstGeom>
          <a:solidFill>
            <a:srgbClr val="F7F7F7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시연 영상 삽입 예정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: 2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분 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30</a:t>
            </a:r>
            <a:r>
              <a:rPr lang="ko-KR" altLang="en-US" sz="1600">
                <a:solidFill>
                  <a:srgbClr val="5A5A5A"/>
                </a:solidFill>
                <a:latin typeface="Malgun Gothic" panose="020B0503020000020004" pitchFamily="50" charset="-127"/>
              </a:rPr>
              <a:t>초</a:t>
            </a:r>
            <a:r>
              <a:rPr lang="en-US" altLang="ko-KR" sz="1600">
                <a:solidFill>
                  <a:srgbClr val="5A5A5A"/>
                </a:solidFill>
                <a:latin typeface="Malgun Gothic" panose="020B0503020000020004" pitchFamily="50" charset="-127"/>
              </a:rPr>
              <a:t>]</a:t>
            </a:r>
            <a:endParaRPr lang="ko-KR" altLang="en-US" sz="1600">
              <a:solidFill>
                <a:srgbClr val="5A5A5A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9084820-957B-78F4-8BB5-4ED030D84850}"/>
              </a:ext>
            </a:extLst>
          </p:cNvPr>
          <p:cNvCxnSpPr/>
          <p:nvPr/>
        </p:nvCxnSpPr>
        <p:spPr>
          <a:xfrm>
            <a:off x="1333500" y="5892800"/>
            <a:ext cx="9525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DF5319-8623-FF4F-0860-FBC8738D0F6C}"/>
              </a:ext>
            </a:extLst>
          </p:cNvPr>
          <p:cNvSpPr txBox="1"/>
          <p:nvPr/>
        </p:nvSpPr>
        <p:spPr>
          <a:xfrm>
            <a:off x="1333500" y="6096000"/>
            <a:ext cx="952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464646"/>
                </a:solidFill>
                <a:latin typeface="Malgun Gothic" panose="020B0503020000020004" pitchFamily="50" charset="-127"/>
              </a:rPr>
              <a:t>탐험 → 기억 렌즈 퍼즐 </a:t>
            </a:r>
            <a:r>
              <a:rPr lang="en-US" altLang="ko-KR" sz="1500">
                <a:solidFill>
                  <a:srgbClr val="464646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500">
                <a:solidFill>
                  <a:srgbClr val="464646"/>
                </a:solidFill>
                <a:latin typeface="Malgun Gothic" panose="020B0503020000020004" pitchFamily="50" charset="-127"/>
              </a:rPr>
              <a:t>종 → 선택 처리 → 중앙 아카이브 엔딩</a:t>
            </a:r>
          </a:p>
        </p:txBody>
      </p:sp>
    </p:spTree>
    <p:extLst>
      <p:ext uri="{BB962C8B-B14F-4D97-AF65-F5344CB8AC3E}">
        <p14:creationId xmlns:p14="http://schemas.microsoft.com/office/powerpoint/2010/main" val="389701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9B642-3B58-3AA3-5E3F-9550E10F2334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11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B4823-06D1-0D97-D2AC-37E279A13F78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LIMITATIONS &amp; NEXT STEPS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C604263-FC1B-DF2A-8973-03557A16DE80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34D08F-9EA4-DAF7-829F-E166F68E9E16}"/>
              </a:ext>
            </a:extLst>
          </p:cNvPr>
          <p:cNvSpPr txBox="1"/>
          <p:nvPr/>
        </p:nvSpPr>
        <p:spPr>
          <a:xfrm>
            <a:off x="762000" y="1168400"/>
            <a:ext cx="635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121212"/>
                </a:solidFill>
                <a:latin typeface="Malgun Gothic" panose="020B0503020000020004" pitchFamily="50" charset="-127"/>
              </a:rPr>
              <a:t>한계점 및 개선 방향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80A619-8E28-2532-4D23-D464194ADD78}"/>
              </a:ext>
            </a:extLst>
          </p:cNvPr>
          <p:cNvSpPr txBox="1"/>
          <p:nvPr/>
        </p:nvSpPr>
        <p:spPr>
          <a:xfrm>
            <a:off x="762000" y="1930400"/>
            <a:ext cx="787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>
                <a:solidFill>
                  <a:srgbClr val="464646"/>
                </a:solidFill>
                <a:latin typeface="Malgun Gothic" panose="020B0503020000020004" pitchFamily="50" charset="-127"/>
              </a:rPr>
              <a:t>발표 안정성을 우선해 핵심 경험을 작게 완성했습니다</a:t>
            </a:r>
            <a:r>
              <a:rPr lang="en-US" altLang="ko-KR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E6CC8B-125A-B861-A0E4-4133897A8D8E}"/>
              </a:ext>
            </a:extLst>
          </p:cNvPr>
          <p:cNvSpPr txBox="1"/>
          <p:nvPr/>
        </p:nvSpPr>
        <p:spPr>
          <a:xfrm>
            <a:off x="1143000" y="32512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적용 범위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235136A-04BC-2F46-FFE7-4A301FD54F3F}"/>
              </a:ext>
            </a:extLst>
          </p:cNvPr>
          <p:cNvCxnSpPr/>
          <p:nvPr/>
        </p:nvCxnSpPr>
        <p:spPr>
          <a:xfrm>
            <a:off x="1397000" y="3860800"/>
            <a:ext cx="2286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A205DD-C108-52F0-A926-877DC248E382}"/>
              </a:ext>
            </a:extLst>
          </p:cNvPr>
          <p:cNvSpPr txBox="1"/>
          <p:nvPr/>
        </p:nvSpPr>
        <p:spPr>
          <a:xfrm>
            <a:off x="1143000" y="4140200"/>
            <a:ext cx="279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464646"/>
                </a:solidFill>
                <a:latin typeface="Malgun Gothic" panose="020B0503020000020004" pitchFamily="50" charset="-127"/>
              </a:rPr>
              <a:t>현재 특수 렌즈 퍼즐은 </a:t>
            </a:r>
            <a:r>
              <a:rPr lang="en-US" altLang="ko-KR" sz="1300">
                <a:solidFill>
                  <a:srgbClr val="464646"/>
                </a:solidFill>
                <a:latin typeface="Malgun Gothic" panose="020B0503020000020004" pitchFamily="50" charset="-127"/>
              </a:rPr>
              <a:t>3</a:t>
            </a:r>
            <a:r>
              <a:rPr lang="ko-KR" altLang="en-US" sz="1300">
                <a:solidFill>
                  <a:srgbClr val="464646"/>
                </a:solidFill>
                <a:latin typeface="Malgun Gothic" panose="020B0503020000020004" pitchFamily="50" charset="-127"/>
              </a:rPr>
              <a:t>개 기억에 우선 적용되어 있습니다</a:t>
            </a:r>
            <a:r>
              <a:rPr lang="en-US" altLang="ko-KR" sz="1300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158F3-F208-26BA-4A7A-6B927FF282FF}"/>
              </a:ext>
            </a:extLst>
          </p:cNvPr>
          <p:cNvSpPr txBox="1"/>
          <p:nvPr/>
        </p:nvSpPr>
        <p:spPr>
          <a:xfrm>
            <a:off x="4572000" y="32512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연출 확장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1980533-5EFE-EF51-149D-9E03FB197619}"/>
              </a:ext>
            </a:extLst>
          </p:cNvPr>
          <p:cNvCxnSpPr/>
          <p:nvPr/>
        </p:nvCxnSpPr>
        <p:spPr>
          <a:xfrm>
            <a:off x="4826000" y="3860800"/>
            <a:ext cx="2286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186644C-C25D-D271-C601-FB12C746284B}"/>
              </a:ext>
            </a:extLst>
          </p:cNvPr>
          <p:cNvSpPr txBox="1"/>
          <p:nvPr/>
        </p:nvSpPr>
        <p:spPr>
          <a:xfrm>
            <a:off x="4572000" y="4140200"/>
            <a:ext cx="279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464646"/>
                </a:solidFill>
                <a:latin typeface="Malgun Gothic" panose="020B0503020000020004" pitchFamily="50" charset="-127"/>
              </a:rPr>
              <a:t>월드 앵커와 가림 판정은 더 정교한 연출로 확장 가능합니다</a:t>
            </a:r>
            <a:r>
              <a:rPr lang="en-US" altLang="ko-KR" sz="1300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880A96-165F-32D0-AA7F-98E98889BD94}"/>
              </a:ext>
            </a:extLst>
          </p:cNvPr>
          <p:cNvSpPr txBox="1"/>
          <p:nvPr/>
        </p:nvSpPr>
        <p:spPr>
          <a:xfrm>
            <a:off x="8001000" y="32512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000000"/>
                </a:solidFill>
                <a:latin typeface="Malgun Gothic" panose="020B0503020000020004" pitchFamily="50" charset="-127"/>
              </a:rPr>
              <a:t>심문 확장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715D609-9E01-FA90-C557-66A3E96CFFFA}"/>
              </a:ext>
            </a:extLst>
          </p:cNvPr>
          <p:cNvCxnSpPr/>
          <p:nvPr/>
        </p:nvCxnSpPr>
        <p:spPr>
          <a:xfrm>
            <a:off x="8255000" y="3860800"/>
            <a:ext cx="2286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79AA664-648F-84D7-D6A9-2008712824A2}"/>
              </a:ext>
            </a:extLst>
          </p:cNvPr>
          <p:cNvSpPr txBox="1"/>
          <p:nvPr/>
        </p:nvSpPr>
        <p:spPr>
          <a:xfrm>
            <a:off x="8001000" y="4140200"/>
            <a:ext cx="2794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464646"/>
                </a:solidFill>
                <a:latin typeface="Malgun Gothic" panose="020B0503020000020004" pitchFamily="50" charset="-127"/>
              </a:rPr>
              <a:t>엔딩 심문은 더 많은 플레이 패턴을 반영하도록 확장할 수 있습니다</a:t>
            </a:r>
            <a:r>
              <a:rPr lang="en-US" altLang="ko-KR" sz="1300">
                <a:solidFill>
                  <a:srgbClr val="464646"/>
                </a:solidFill>
                <a:latin typeface="Malgun Gothic" panose="020B0503020000020004" pitchFamily="50" charset="-127"/>
              </a:rPr>
              <a:t>.</a:t>
            </a:r>
            <a:endParaRPr lang="ko-KR" altLang="en-US" sz="1300">
              <a:solidFill>
                <a:srgbClr val="46464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41395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C03E57-6F9A-988C-8091-437CF27B246E}"/>
              </a:ext>
            </a:extLst>
          </p:cNvPr>
          <p:cNvSpPr txBox="1"/>
          <p:nvPr/>
        </p:nvSpPr>
        <p:spPr>
          <a:xfrm>
            <a:off x="762000" y="4318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12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5AF6A2-E268-6B4E-C7BD-51211DEE9BA9}"/>
              </a:ext>
            </a:extLst>
          </p:cNvPr>
          <p:cNvSpPr txBox="1"/>
          <p:nvPr/>
        </p:nvSpPr>
        <p:spPr>
          <a:xfrm>
            <a:off x="2159000" y="533400"/>
            <a:ext cx="660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00">
                <a:solidFill>
                  <a:srgbClr val="787878"/>
                </a:solidFill>
                <a:latin typeface="Malgun Gothic" panose="020B0503020000020004" pitchFamily="50" charset="-127"/>
              </a:rPr>
              <a:t>CONCLUSION</a:t>
            </a:r>
            <a:endParaRPr lang="ko-KR" altLang="en-US" sz="800">
              <a:solidFill>
                <a:srgbClr val="787878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4F845D-2D5B-C998-39B5-7426D4822A1E}"/>
              </a:ext>
            </a:extLst>
          </p:cNvPr>
          <p:cNvCxnSpPr/>
          <p:nvPr/>
        </p:nvCxnSpPr>
        <p:spPr>
          <a:xfrm>
            <a:off x="2159000" y="850900"/>
            <a:ext cx="9271000" cy="0"/>
          </a:xfrm>
          <a:prstGeom prst="line">
            <a:avLst/>
          </a:prstGeom>
          <a:ln w="9525"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654CE4-1404-BAEC-2821-A626AD611DB3}"/>
              </a:ext>
            </a:extLst>
          </p:cNvPr>
          <p:cNvSpPr txBox="1"/>
          <p:nvPr/>
        </p:nvSpPr>
        <p:spPr>
          <a:xfrm>
            <a:off x="1016000" y="1168400"/>
            <a:ext cx="1016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000000"/>
                </a:solidFill>
                <a:latin typeface="Malgun Gothic" panose="020B0503020000020004" pitchFamily="50" charset="-127"/>
              </a:rPr>
              <a:t>마무리 </a:t>
            </a:r>
            <a:r>
              <a:rPr lang="en-US" altLang="ko-KR" sz="2000" b="1">
                <a:solidFill>
                  <a:srgbClr val="000000"/>
                </a:solidFill>
                <a:latin typeface="Malgun Gothic" panose="020B0503020000020004" pitchFamily="50" charset="-127"/>
              </a:rPr>
              <a:t>/ Q&amp;A</a:t>
            </a:r>
            <a:endParaRPr lang="ko-KR" altLang="en-US" sz="20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A4A7F-E363-EEEF-8EE0-D88328F327A5}"/>
              </a:ext>
            </a:extLst>
          </p:cNvPr>
          <p:cNvSpPr txBox="1"/>
          <p:nvPr/>
        </p:nvSpPr>
        <p:spPr>
          <a:xfrm>
            <a:off x="1016000" y="1778000"/>
            <a:ext cx="10160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기억을 복원하는 게임에서</a:t>
            </a:r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플레이어를 기억하는 게임으로</a:t>
            </a:r>
            <a:r>
              <a:rPr lang="en-US" altLang="ko-KR" sz="3400" b="1">
                <a:solidFill>
                  <a:srgbClr val="000000"/>
                </a:solidFill>
                <a:latin typeface="Malgun Gothic" panose="020B0503020000020004" pitchFamily="50" charset="-127"/>
              </a:rPr>
              <a:t>."</a:t>
            </a:r>
            <a:endParaRPr lang="ko-KR" altLang="en-US" sz="3400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8F5B84E-175E-11E7-834E-D56E2EC7B08E}"/>
              </a:ext>
            </a:extLst>
          </p:cNvPr>
          <p:cNvCxnSpPr/>
          <p:nvPr/>
        </p:nvCxnSpPr>
        <p:spPr>
          <a:xfrm>
            <a:off x="2286000" y="3429000"/>
            <a:ext cx="7620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0D6ADC-6CAD-9E2C-43D5-9C62AFFAF733}"/>
              </a:ext>
            </a:extLst>
          </p:cNvPr>
          <p:cNvSpPr txBox="1"/>
          <p:nvPr/>
        </p:nvSpPr>
        <p:spPr>
          <a:xfrm>
            <a:off x="2032000" y="3962400"/>
            <a:ext cx="812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282828"/>
                </a:solidFill>
                <a:latin typeface="Malgun Gothic" panose="020B0503020000020004" pitchFamily="50" charset="-127"/>
              </a:rPr>
              <a:t>기록창은 </a:t>
            </a:r>
            <a:r>
              <a:rPr lang="en-US" altLang="ko-KR" sz="2000">
                <a:solidFill>
                  <a:srgbClr val="282828"/>
                </a:solidFill>
                <a:latin typeface="Malgun Gothic" panose="020B0503020000020004" pitchFamily="50" charset="-127"/>
              </a:rPr>
              <a:t>UI</a:t>
            </a:r>
            <a:r>
              <a:rPr lang="ko-KR" altLang="en-US" sz="2000">
                <a:solidFill>
                  <a:srgbClr val="282828"/>
                </a:solidFill>
                <a:latin typeface="Malgun Gothic" panose="020B0503020000020004" pitchFamily="50" charset="-127"/>
              </a:rPr>
              <a:t>가 아니라 기억 렌즈입니다</a:t>
            </a:r>
            <a:r>
              <a:rPr lang="en-US" altLang="ko-KR" sz="2000">
                <a:solidFill>
                  <a:srgbClr val="282828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28282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5D14F-101C-30CD-3BF5-51BCF6ABB971}"/>
              </a:ext>
            </a:extLst>
          </p:cNvPr>
          <p:cNvSpPr txBox="1"/>
          <p:nvPr/>
        </p:nvSpPr>
        <p:spPr>
          <a:xfrm>
            <a:off x="2032000" y="4572000"/>
            <a:ext cx="812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282828"/>
                </a:solidFill>
                <a:latin typeface="Malgun Gothic" panose="020B0503020000020004" pitchFamily="50" charset="-127"/>
              </a:rPr>
              <a:t>폐도시는 배경이 아니라 퍼즐의 일부입니다</a:t>
            </a:r>
            <a:r>
              <a:rPr lang="en-US" altLang="ko-KR" sz="2000">
                <a:solidFill>
                  <a:srgbClr val="282828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28282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5EE87-6083-C326-D78D-63D238976711}"/>
              </a:ext>
            </a:extLst>
          </p:cNvPr>
          <p:cNvSpPr txBox="1"/>
          <p:nvPr/>
        </p:nvSpPr>
        <p:spPr>
          <a:xfrm>
            <a:off x="2032000" y="5181600"/>
            <a:ext cx="812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>
                <a:solidFill>
                  <a:srgbClr val="282828"/>
                </a:solidFill>
                <a:latin typeface="Malgun Gothic" panose="020B0503020000020004" pitchFamily="50" charset="-127"/>
              </a:rPr>
              <a:t>마지막으로 재활용되는 것은 기억이 아니라 수거원의 선택입니다</a:t>
            </a:r>
            <a:r>
              <a:rPr lang="en-US" altLang="ko-KR" sz="2000">
                <a:solidFill>
                  <a:srgbClr val="282828"/>
                </a:solidFill>
                <a:latin typeface="Malgun Gothic" panose="020B0503020000020004" pitchFamily="50" charset="-127"/>
              </a:rPr>
              <a:t>.</a:t>
            </a:r>
            <a:endParaRPr lang="ko-KR" altLang="en-US" sz="2000">
              <a:solidFill>
                <a:srgbClr val="282828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2636AB-DA1F-1C7D-926D-F81F31200649}"/>
              </a:ext>
            </a:extLst>
          </p:cNvPr>
          <p:cNvSpPr txBox="1"/>
          <p:nvPr/>
        </p:nvSpPr>
        <p:spPr>
          <a:xfrm>
            <a:off x="9779000" y="59182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ko-KR" b="1">
                <a:solidFill>
                  <a:srgbClr val="000000"/>
                </a:solidFill>
                <a:latin typeface="Malgun Gothic" panose="020B0503020000020004" pitchFamily="50" charset="-127"/>
              </a:rPr>
              <a:t>Q&amp;A</a:t>
            </a:r>
            <a:endParaRPr lang="ko-KR" altLang="en-US" b="1">
              <a:solidFill>
                <a:srgbClr val="00000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3288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</Words>
  <Application>Microsoft Office PowerPoint</Application>
  <PresentationFormat>사용자 지정</PresentationFormat>
  <Paragraphs>131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동준 신</dc:creator>
  <cp:lastModifiedBy>동준 신</cp:lastModifiedBy>
  <cp:revision>1</cp:revision>
  <dcterms:created xsi:type="dcterms:W3CDTF">2026-06-11T17:15:46Z</dcterms:created>
  <dcterms:modified xsi:type="dcterms:W3CDTF">2026-06-11T17:15:46Z</dcterms:modified>
</cp:coreProperties>
</file>